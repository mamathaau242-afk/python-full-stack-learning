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6C9D1-8CDB-4868-B6F4-F522D240451D}" v="1" dt="2026-10-27T02:50:27.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atha A U" userId="1631605e2d8748ee" providerId="LiveId" clId="{AC4B55DB-FB45-4477-9ED8-6C506C786E07}"/>
    <pc:docChg chg="addSld modSld">
      <pc:chgData name="Mamatha A U" userId="1631605e2d8748ee" providerId="LiveId" clId="{AC4B55DB-FB45-4477-9ED8-6C506C786E07}" dt="2026-10-27T05:23:40.878" v="55" actId="1038"/>
      <pc:docMkLst>
        <pc:docMk/>
      </pc:docMkLst>
      <pc:sldChg chg="modSp mod">
        <pc:chgData name="Mamatha A U" userId="1631605e2d8748ee" providerId="LiveId" clId="{AC4B55DB-FB45-4477-9ED8-6C506C786E07}" dt="2026-10-27T02:53:00.428" v="53" actId="1076"/>
        <pc:sldMkLst>
          <pc:docMk/>
          <pc:sldMk cId="0" sldId="256"/>
        </pc:sldMkLst>
        <pc:picChg chg="mod">
          <ac:chgData name="Mamatha A U" userId="1631605e2d8748ee" providerId="LiveId" clId="{AC4B55DB-FB45-4477-9ED8-6C506C786E07}" dt="2026-10-27T02:53:00.428" v="53" actId="1076"/>
          <ac:picMkLst>
            <pc:docMk/>
            <pc:sldMk cId="0" sldId="256"/>
            <ac:picMk id="2" creationId="{00000000-0000-0000-0000-000000000000}"/>
          </ac:picMkLst>
        </pc:picChg>
      </pc:sldChg>
      <pc:sldChg chg="modSp mod">
        <pc:chgData name="Mamatha A U" userId="1631605e2d8748ee" providerId="LiveId" clId="{AC4B55DB-FB45-4477-9ED8-6C506C786E07}" dt="2026-10-27T05:23:40.878" v="55" actId="1038"/>
        <pc:sldMkLst>
          <pc:docMk/>
          <pc:sldMk cId="0" sldId="258"/>
        </pc:sldMkLst>
        <pc:picChg chg="mod">
          <ac:chgData name="Mamatha A U" userId="1631605e2d8748ee" providerId="LiveId" clId="{AC4B55DB-FB45-4477-9ED8-6C506C786E07}" dt="2026-10-27T05:23:40.878" v="55" actId="1038"/>
          <ac:picMkLst>
            <pc:docMk/>
            <pc:sldMk cId="0" sldId="258"/>
            <ac:picMk id="9" creationId="{00000000-0000-0000-0000-000000000000}"/>
          </ac:picMkLst>
        </pc:picChg>
      </pc:sldChg>
      <pc:sldChg chg="addSp modSp new mod">
        <pc:chgData name="Mamatha A U" userId="1631605e2d8748ee" providerId="LiveId" clId="{AC4B55DB-FB45-4477-9ED8-6C506C786E07}" dt="2026-10-27T02:51:41.803" v="52" actId="1076"/>
        <pc:sldMkLst>
          <pc:docMk/>
          <pc:sldMk cId="828785129" sldId="266"/>
        </pc:sldMkLst>
        <pc:spChg chg="add mod">
          <ac:chgData name="Mamatha A U" userId="1631605e2d8748ee" providerId="LiveId" clId="{AC4B55DB-FB45-4477-9ED8-6C506C786E07}" dt="2026-10-27T02:51:41.803" v="52" actId="1076"/>
          <ac:spMkLst>
            <pc:docMk/>
            <pc:sldMk cId="828785129" sldId="266"/>
            <ac:spMk id="2" creationId="{1BBB3E61-EB3E-9710-4FE2-353B1BD2A51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64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bin"/><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bin"/></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bin"/><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bin"/><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900000">
            <a:off x="9841338" y="-1339335"/>
            <a:ext cx="9144000" cy="6549104"/>
          </a:xfrm>
          <a:prstGeom prst="rect">
            <a:avLst/>
          </a:prstGeom>
        </p:spPr>
      </p:pic>
      <p:sp>
        <p:nvSpPr>
          <p:cNvPr id="3" name="Text 0"/>
          <p:cNvSpPr/>
          <p:nvPr/>
        </p:nvSpPr>
        <p:spPr>
          <a:xfrm>
            <a:off x="3094044" y="4172741"/>
            <a:ext cx="12110657" cy="1905000"/>
          </a:xfrm>
          <a:prstGeom prst="rect">
            <a:avLst/>
          </a:prstGeom>
          <a:noFill/>
          <a:ln/>
        </p:spPr>
        <p:txBody>
          <a:bodyPr wrap="square" rtlCol="0" anchor="ctr"/>
          <a:lstStyle/>
          <a:p>
            <a:pPr marL="0" indent="0" algn="ctr">
              <a:lnSpc>
                <a:spcPct val="100000"/>
              </a:lnSpc>
              <a:buNone/>
            </a:pPr>
            <a:r>
              <a:rPr lang="en-US" sz="15000" b="1" dirty="0">
                <a:solidFill>
                  <a:srgbClr val="000000"/>
                </a:solidFill>
                <a:latin typeface="Open Sans" pitchFamily="34" charset="0"/>
                <a:ea typeface="Open Sans" pitchFamily="34" charset="-122"/>
                <a:cs typeface="Open Sans" pitchFamily="34" charset="-120"/>
              </a:rPr>
              <a:t>PREDICTION</a:t>
            </a:r>
            <a:endParaRPr lang="en-US" sz="15000" dirty="0"/>
          </a:p>
        </p:txBody>
      </p:sp>
      <p:pic>
        <p:nvPicPr>
          <p:cNvPr id="4" name="Image 1" descr="preencoded.png"/>
          <p:cNvPicPr>
            <a:picLocks noChangeAspect="1"/>
          </p:cNvPicPr>
          <p:nvPr/>
        </p:nvPicPr>
        <p:blipFill>
          <a:blip r:embed="rId4"/>
          <a:stretch>
            <a:fillRect/>
          </a:stretch>
        </p:blipFill>
        <p:spPr>
          <a:xfrm>
            <a:off x="-1291304" y="-1129055"/>
            <a:ext cx="5143500" cy="5143500"/>
          </a:xfrm>
          <a:prstGeom prst="rect">
            <a:avLst/>
          </a:prstGeom>
        </p:spPr>
      </p:pic>
      <p:pic>
        <p:nvPicPr>
          <p:cNvPr id="5" name="Image 2" descr="preencoded.png"/>
          <p:cNvPicPr>
            <a:picLocks noChangeAspect="1"/>
          </p:cNvPicPr>
          <p:nvPr/>
        </p:nvPicPr>
        <p:blipFill>
          <a:blip r:embed="rId5"/>
          <a:stretch>
            <a:fillRect/>
          </a:stretch>
        </p:blipFill>
        <p:spPr>
          <a:xfrm>
            <a:off x="16250602" y="8187785"/>
            <a:ext cx="2500665" cy="2500665"/>
          </a:xfrm>
          <a:prstGeom prst="rect">
            <a:avLst/>
          </a:prstGeom>
        </p:spPr>
      </p:pic>
      <p:sp>
        <p:nvSpPr>
          <p:cNvPr id="6" name="Text 1"/>
          <p:cNvSpPr/>
          <p:nvPr/>
        </p:nvSpPr>
        <p:spPr>
          <a:xfrm>
            <a:off x="3094463" y="6178896"/>
            <a:ext cx="12110657" cy="476250"/>
          </a:xfrm>
          <a:prstGeom prst="rect">
            <a:avLst/>
          </a:prstGeom>
          <a:noFill/>
          <a:ln/>
        </p:spPr>
        <p:txBody>
          <a:bodyPr wrap="square" rtlCol="0" anchor="ctr"/>
          <a:lstStyle/>
          <a:p>
            <a:pPr marL="0" indent="0" algn="ctr">
              <a:lnSpc>
                <a:spcPct val="140000"/>
              </a:lnSpc>
              <a:buNone/>
            </a:pPr>
            <a:r>
              <a:rPr lang="en-US" sz="2700" b="1" dirty="0">
                <a:solidFill>
                  <a:srgbClr val="171C1B"/>
                </a:solidFill>
                <a:latin typeface="Open Sans" pitchFamily="34" charset="0"/>
                <a:ea typeface="Open Sans" pitchFamily="34" charset="-122"/>
                <a:cs typeface="Open Sans" pitchFamily="34" charset="-120"/>
              </a:rPr>
              <a:t>MAMATHA A U • MACHINE LEARNING</a:t>
            </a:r>
            <a:endParaRPr lang="en-US" sz="2700" dirty="0"/>
          </a:p>
        </p:txBody>
      </p:sp>
      <p:sp>
        <p:nvSpPr>
          <p:cNvPr id="7" name="Text 2"/>
          <p:cNvSpPr/>
          <p:nvPr/>
        </p:nvSpPr>
        <p:spPr>
          <a:xfrm>
            <a:off x="3094044" y="8962101"/>
            <a:ext cx="12110657" cy="371475"/>
          </a:xfrm>
          <a:prstGeom prst="rect">
            <a:avLst/>
          </a:prstGeom>
          <a:noFill/>
          <a:ln/>
        </p:spPr>
        <p:txBody>
          <a:bodyPr wrap="square" rtlCol="0" anchor="ctr"/>
          <a:lstStyle/>
          <a:p>
            <a:pPr marL="0" indent="0" algn="ctr">
              <a:lnSpc>
                <a:spcPct val="140000"/>
              </a:lnSpc>
              <a:buNone/>
            </a:pPr>
            <a:r>
              <a:rPr lang="en-US" sz="2100" i="1" dirty="0">
                <a:solidFill>
                  <a:srgbClr val="171C1B"/>
                </a:solidFill>
                <a:latin typeface="Open Sans" pitchFamily="34" charset="0"/>
                <a:ea typeface="Open Sans" pitchFamily="34" charset="-122"/>
                <a:cs typeface="Open Sans" pitchFamily="34" charset="-120"/>
              </a:rPr>
              <a:t>Decision Tree, Random Forest, and SVM predict breast cancer using machine learning.</a:t>
            </a:r>
            <a:endParaRPr lang="en-US" sz="2100" dirty="0"/>
          </a:p>
        </p:txBody>
      </p:sp>
      <p:pic>
        <p:nvPicPr>
          <p:cNvPr id="8" name="Image 3" descr="preencoded.png"/>
          <p:cNvPicPr>
            <a:picLocks noChangeAspect="1"/>
          </p:cNvPicPr>
          <p:nvPr/>
        </p:nvPicPr>
        <p:blipFill>
          <a:blip r:embed="rId6"/>
          <a:stretch>
            <a:fillRect/>
          </a:stretch>
        </p:blipFill>
        <p:spPr>
          <a:xfrm rot="1800000">
            <a:off x="-1019137" y="5180857"/>
            <a:ext cx="9144000" cy="65491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33"/>
            <a:ext cx="11106626" cy="1828800"/>
          </a:xfrm>
          <a:prstGeom prst="rect">
            <a:avLst/>
          </a:prstGeom>
          <a:noFill/>
          <a:ln/>
        </p:spPr>
        <p:txBody>
          <a:bodyPr wrap="square" rtlCol="0" anchor="ctr"/>
          <a:lstStyle/>
          <a:p>
            <a:pPr marL="0" indent="0" algn="l">
              <a:lnSpc>
                <a:spcPct val="100000"/>
              </a:lnSpc>
              <a:buNone/>
            </a:pPr>
            <a:r>
              <a:rPr lang="en-US" sz="7200" b="1" dirty="0">
                <a:solidFill>
                  <a:srgbClr val="171C1B"/>
                </a:solidFill>
                <a:latin typeface="Open Sans" pitchFamily="34" charset="0"/>
                <a:ea typeface="Open Sans" pitchFamily="34" charset="-122"/>
                <a:cs typeface="Open Sans" pitchFamily="34" charset="-120"/>
              </a:rPr>
              <a:t>THE EARLY DETECTION CHALLENGE</a:t>
            </a:r>
            <a:endParaRPr lang="en-US" sz="7200" dirty="0"/>
          </a:p>
        </p:txBody>
      </p:sp>
      <p:pic>
        <p:nvPicPr>
          <p:cNvPr id="3" name="Image 0" descr="preencoded.png"/>
          <p:cNvPicPr>
            <a:picLocks noChangeAspect="1"/>
          </p:cNvPicPr>
          <p:nvPr/>
        </p:nvPicPr>
        <p:blipFill>
          <a:blip r:embed="rId3"/>
          <a:stretch>
            <a:fillRect/>
          </a:stretch>
        </p:blipFill>
        <p:spPr>
          <a:xfrm>
            <a:off x="9251747" y="3980993"/>
            <a:ext cx="8092307" cy="5352583"/>
          </a:xfrm>
          <a:prstGeom prst="rect">
            <a:avLst/>
          </a:prstGeom>
        </p:spPr>
      </p:pic>
      <p:sp>
        <p:nvSpPr>
          <p:cNvPr id="4" name="Text 1"/>
          <p:cNvSpPr/>
          <p:nvPr/>
        </p:nvSpPr>
        <p:spPr>
          <a:xfrm>
            <a:off x="9736455" y="4650067"/>
            <a:ext cx="7147798" cy="2609850"/>
          </a:xfrm>
          <a:prstGeom prst="rect">
            <a:avLst/>
          </a:prstGeom>
          <a:noFill/>
          <a:ln/>
        </p:spPr>
        <p:txBody>
          <a:bodyPr wrap="square" rtlCol="0" anchor="ctr"/>
          <a:lstStyle/>
          <a:p>
            <a:pPr marL="0" indent="0" algn="l">
              <a:lnSpc>
                <a:spcPct val="140000"/>
              </a:lnSpc>
              <a:buNone/>
            </a:pPr>
            <a:r>
              <a:rPr lang="en-US" sz="2100" dirty="0">
                <a:solidFill>
                  <a:srgbClr val="D0DCDB"/>
                </a:solidFill>
                <a:latin typeface="Open Sans" pitchFamily="34" charset="0"/>
                <a:ea typeface="Open Sans" pitchFamily="34" charset="-122"/>
                <a:cs typeface="Open Sans" pitchFamily="34" charset="-120"/>
              </a:rPr>
              <a:t>A model that reliably distinguishes benign from malignant tumors can support earlier, more informed clinical decisions. This project aims to classify tumors as non-cancerous or cancerous, helping direct patients toward timely diagnosis and appropriate care. A clear goal: improve detection and treatment outcomes.</a:t>
            </a:r>
            <a:endParaRPr lang="en-US" sz="2100" dirty="0"/>
          </a:p>
        </p:txBody>
      </p:sp>
      <p:pic>
        <p:nvPicPr>
          <p:cNvPr id="5" name="Image 1" descr="preencoded.png"/>
          <p:cNvPicPr>
            <a:picLocks noChangeAspect="1"/>
          </p:cNvPicPr>
          <p:nvPr/>
        </p:nvPicPr>
        <p:blipFill>
          <a:blip r:embed="rId3"/>
          <a:stretch>
            <a:fillRect/>
          </a:stretch>
        </p:blipFill>
        <p:spPr>
          <a:xfrm>
            <a:off x="963463" y="3980993"/>
            <a:ext cx="8092307" cy="5352583"/>
          </a:xfrm>
          <a:prstGeom prst="rect">
            <a:avLst/>
          </a:prstGeom>
        </p:spPr>
      </p:pic>
      <p:sp>
        <p:nvSpPr>
          <p:cNvPr id="6" name="Text 2"/>
          <p:cNvSpPr/>
          <p:nvPr/>
        </p:nvSpPr>
        <p:spPr>
          <a:xfrm>
            <a:off x="1428274" y="4650438"/>
            <a:ext cx="7365244" cy="2990850"/>
          </a:xfrm>
          <a:prstGeom prst="rect">
            <a:avLst/>
          </a:prstGeom>
          <a:noFill/>
          <a:ln/>
        </p:spPr>
        <p:txBody>
          <a:bodyPr wrap="square" rtlCol="0" anchor="ctr"/>
          <a:lstStyle/>
          <a:p>
            <a:pPr marL="0" indent="0" algn="l">
              <a:lnSpc>
                <a:spcPct val="140000"/>
              </a:lnSpc>
              <a:buNone/>
            </a:pPr>
            <a:r>
              <a:rPr lang="en-US" sz="2100" dirty="0">
                <a:solidFill>
                  <a:srgbClr val="D0DCDB"/>
                </a:solidFill>
                <a:latin typeface="Open Sans" pitchFamily="34" charset="0"/>
                <a:ea typeface="Open Sans" pitchFamily="34" charset="-122"/>
                <a:cs typeface="Open Sans" pitchFamily="34" charset="-120"/>
              </a:rPr>
              <a:t>Breast cancer is among the most common cancers affecting women worldwide. Early detection gives doctors a better chance to identify disease promptly and choose appropriate care. When diagnosis comes sooner, treatment can begin in time to improve success and reduce mortality. This challenge motivates a machine learning approach that can distinguish tumor types with useful reliability.</a:t>
            </a:r>
            <a:endParaRPr lang="en-US" sz="2100" dirty="0"/>
          </a:p>
        </p:txBody>
      </p:sp>
      <p:pic>
        <p:nvPicPr>
          <p:cNvPr id="7" name="Image 2" descr="preencoded.png"/>
          <p:cNvPicPr>
            <a:picLocks noChangeAspect="1"/>
          </p:cNvPicPr>
          <p:nvPr/>
        </p:nvPicPr>
        <p:blipFill>
          <a:blip r:embed="rId4"/>
          <a:stretch>
            <a:fillRect/>
          </a:stretch>
        </p:blipFill>
        <p:spPr>
          <a:xfrm rot="-9000000">
            <a:off x="10872652" y="-1528736"/>
            <a:ext cx="9144000" cy="65491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33"/>
            <a:ext cx="13610844" cy="1287961"/>
          </a:xfrm>
          <a:prstGeom prst="rect">
            <a:avLst/>
          </a:prstGeom>
          <a:noFill/>
          <a:ln/>
        </p:spPr>
        <p:txBody>
          <a:bodyPr wrap="square" rtlCol="0" anchor="ctr"/>
          <a:lstStyle/>
          <a:p>
            <a:pPr marL="0" indent="0" algn="l">
              <a:lnSpc>
                <a:spcPct val="120000"/>
              </a:lnSpc>
              <a:buNone/>
            </a:pPr>
            <a:r>
              <a:rPr lang="en-US" sz="8429" b="1" dirty="0">
                <a:solidFill>
                  <a:srgbClr val="171C1B"/>
                </a:solidFill>
                <a:latin typeface="Open Sans" pitchFamily="34" charset="0"/>
                <a:ea typeface="Open Sans" pitchFamily="34" charset="-122"/>
                <a:cs typeface="Open Sans" pitchFamily="34" charset="-120"/>
              </a:rPr>
              <a:t>DATASET OVERVIEW</a:t>
            </a:r>
            <a:endParaRPr lang="en-US" sz="8429" dirty="0"/>
          </a:p>
        </p:txBody>
      </p:sp>
      <p:pic>
        <p:nvPicPr>
          <p:cNvPr id="3" name="Image 0" descr="preencoded.png"/>
          <p:cNvPicPr>
            <a:picLocks noChangeAspect="1"/>
          </p:cNvPicPr>
          <p:nvPr/>
        </p:nvPicPr>
        <p:blipFill>
          <a:blip r:embed="rId3"/>
          <a:stretch>
            <a:fillRect/>
          </a:stretch>
        </p:blipFill>
        <p:spPr>
          <a:xfrm>
            <a:off x="958444" y="4014445"/>
            <a:ext cx="4926054" cy="7129796"/>
          </a:xfrm>
          <a:prstGeom prst="rect">
            <a:avLst/>
          </a:prstGeom>
        </p:spPr>
      </p:pic>
      <p:sp>
        <p:nvSpPr>
          <p:cNvPr id="4" name="Text 1"/>
          <p:cNvSpPr/>
          <p:nvPr/>
        </p:nvSpPr>
        <p:spPr>
          <a:xfrm>
            <a:off x="2701176" y="4984594"/>
            <a:ext cx="1438932" cy="1371600"/>
          </a:xfrm>
          <a:prstGeom prst="rect">
            <a:avLst/>
          </a:prstGeom>
          <a:noFill/>
          <a:ln/>
        </p:spPr>
        <p:txBody>
          <a:bodyPr wrap="square" rtlCol="0" anchor="ctr"/>
          <a:lstStyle/>
          <a:p>
            <a:pPr marL="0" indent="0" algn="ctr">
              <a:lnSpc>
                <a:spcPct val="100000"/>
              </a:lnSpc>
              <a:buNone/>
            </a:pPr>
            <a:r>
              <a:rPr lang="en-US" sz="10800" b="1" dirty="0">
                <a:solidFill>
                  <a:srgbClr val="D0DCDB"/>
                </a:solidFill>
                <a:latin typeface="Open Sans" pitchFamily="34" charset="0"/>
                <a:ea typeface="Open Sans" pitchFamily="34" charset="-122"/>
                <a:cs typeface="Open Sans" pitchFamily="34" charset="-120"/>
              </a:rPr>
              <a:t>I</a:t>
            </a:r>
            <a:endParaRPr lang="en-US" sz="10800" dirty="0"/>
          </a:p>
        </p:txBody>
      </p:sp>
      <p:pic>
        <p:nvPicPr>
          <p:cNvPr id="5" name="Image 1" descr="preencoded.png"/>
          <p:cNvPicPr>
            <a:picLocks noChangeAspect="1"/>
          </p:cNvPicPr>
          <p:nvPr/>
        </p:nvPicPr>
        <p:blipFill>
          <a:blip r:embed="rId3"/>
          <a:stretch>
            <a:fillRect/>
          </a:stretch>
        </p:blipFill>
        <p:spPr>
          <a:xfrm>
            <a:off x="6686560" y="4014454"/>
            <a:ext cx="4926054" cy="7129796"/>
          </a:xfrm>
          <a:prstGeom prst="rect">
            <a:avLst/>
          </a:prstGeom>
        </p:spPr>
      </p:pic>
      <p:sp>
        <p:nvSpPr>
          <p:cNvPr id="6" name="Text 2"/>
          <p:cNvSpPr/>
          <p:nvPr/>
        </p:nvSpPr>
        <p:spPr>
          <a:xfrm>
            <a:off x="6687388" y="6624295"/>
            <a:ext cx="4924387" cy="476250"/>
          </a:xfrm>
          <a:prstGeom prst="rect">
            <a:avLst/>
          </a:prstGeom>
          <a:noFill/>
          <a:ln/>
        </p:spPr>
        <p:txBody>
          <a:bodyPr wrap="square" rtlCol="0" anchor="ctr"/>
          <a:lstStyle/>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569  RECORDS</a:t>
            </a:r>
            <a:endParaRPr lang="en-US" sz="3600" dirty="0"/>
          </a:p>
        </p:txBody>
      </p:sp>
      <p:sp>
        <p:nvSpPr>
          <p:cNvPr id="7" name="Text 3"/>
          <p:cNvSpPr/>
          <p:nvPr/>
        </p:nvSpPr>
        <p:spPr>
          <a:xfrm>
            <a:off x="8426682" y="4984604"/>
            <a:ext cx="1438932" cy="1371600"/>
          </a:xfrm>
          <a:prstGeom prst="rect">
            <a:avLst/>
          </a:prstGeom>
          <a:noFill/>
          <a:ln/>
        </p:spPr>
        <p:txBody>
          <a:bodyPr wrap="square" rtlCol="0" anchor="ctr"/>
          <a:lstStyle/>
          <a:p>
            <a:pPr marL="0" indent="0" algn="ctr">
              <a:lnSpc>
                <a:spcPct val="100000"/>
              </a:lnSpc>
              <a:buNone/>
            </a:pPr>
            <a:r>
              <a:rPr lang="en-US" sz="10800" b="1" dirty="0">
                <a:solidFill>
                  <a:srgbClr val="D0DCDB"/>
                </a:solidFill>
                <a:latin typeface="Open Sans" pitchFamily="34" charset="0"/>
                <a:ea typeface="Open Sans" pitchFamily="34" charset="-122"/>
                <a:cs typeface="Open Sans" pitchFamily="34" charset="-120"/>
              </a:rPr>
              <a:t>II</a:t>
            </a:r>
            <a:endParaRPr lang="en-US" sz="10800" dirty="0"/>
          </a:p>
        </p:txBody>
      </p:sp>
      <p:sp>
        <p:nvSpPr>
          <p:cNvPr id="8" name="Text 4"/>
          <p:cNvSpPr/>
          <p:nvPr/>
        </p:nvSpPr>
        <p:spPr>
          <a:xfrm>
            <a:off x="965044" y="6623828"/>
            <a:ext cx="4926063" cy="476250"/>
          </a:xfrm>
          <a:prstGeom prst="rect">
            <a:avLst/>
          </a:prstGeom>
          <a:noFill/>
          <a:ln/>
        </p:spPr>
        <p:txBody>
          <a:bodyPr wrap="square" rtlCol="0" anchor="ctr"/>
          <a:lstStyle/>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30 FEATURES</a:t>
            </a:r>
            <a:endParaRPr lang="en-US" sz="3600" dirty="0"/>
          </a:p>
        </p:txBody>
      </p:sp>
      <p:pic>
        <p:nvPicPr>
          <p:cNvPr id="9" name="Image 2" descr="preencoded.png"/>
          <p:cNvPicPr>
            <a:picLocks noChangeAspect="1"/>
          </p:cNvPicPr>
          <p:nvPr/>
        </p:nvPicPr>
        <p:blipFill>
          <a:blip r:embed="rId3"/>
          <a:stretch>
            <a:fillRect/>
          </a:stretch>
        </p:blipFill>
        <p:spPr>
          <a:xfrm>
            <a:off x="12432646" y="4014454"/>
            <a:ext cx="4926054" cy="7129796"/>
          </a:xfrm>
          <a:prstGeom prst="rect">
            <a:avLst/>
          </a:prstGeom>
        </p:spPr>
      </p:pic>
      <p:sp>
        <p:nvSpPr>
          <p:cNvPr id="10" name="Text 5"/>
          <p:cNvSpPr/>
          <p:nvPr/>
        </p:nvSpPr>
        <p:spPr>
          <a:xfrm>
            <a:off x="12407932" y="6624295"/>
            <a:ext cx="4926092" cy="476250"/>
          </a:xfrm>
          <a:prstGeom prst="rect">
            <a:avLst/>
          </a:prstGeom>
          <a:noFill/>
          <a:ln/>
        </p:spPr>
        <p:txBody>
          <a:bodyPr wrap="square" rtlCol="0" anchor="ctr"/>
          <a:lstStyle/>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TWO  CLASSES</a:t>
            </a:r>
            <a:endParaRPr lang="en-US" sz="3600" dirty="0"/>
          </a:p>
        </p:txBody>
      </p:sp>
      <p:sp>
        <p:nvSpPr>
          <p:cNvPr id="11" name="Text 6"/>
          <p:cNvSpPr/>
          <p:nvPr/>
        </p:nvSpPr>
        <p:spPr>
          <a:xfrm>
            <a:off x="14159008" y="4984604"/>
            <a:ext cx="1707068" cy="1371600"/>
          </a:xfrm>
          <a:prstGeom prst="rect">
            <a:avLst/>
          </a:prstGeom>
          <a:noFill/>
          <a:ln/>
        </p:spPr>
        <p:txBody>
          <a:bodyPr wrap="square" rtlCol="0" anchor="ctr"/>
          <a:lstStyle/>
          <a:p>
            <a:pPr marL="0" indent="0" algn="ctr">
              <a:lnSpc>
                <a:spcPct val="100000"/>
              </a:lnSpc>
              <a:buNone/>
            </a:pPr>
            <a:r>
              <a:rPr lang="en-US" sz="10800" b="1" dirty="0">
                <a:solidFill>
                  <a:srgbClr val="D0DCDB"/>
                </a:solidFill>
                <a:latin typeface="Open Sans" pitchFamily="34" charset="0"/>
                <a:ea typeface="Open Sans" pitchFamily="34" charset="-122"/>
                <a:cs typeface="Open Sans" pitchFamily="34" charset="-120"/>
              </a:rPr>
              <a:t>III</a:t>
            </a:r>
            <a:endParaRPr lang="en-US" sz="10800" dirty="0"/>
          </a:p>
        </p:txBody>
      </p:sp>
      <p:pic>
        <p:nvPicPr>
          <p:cNvPr id="12" name="Image 3" descr="preencoded.png"/>
          <p:cNvPicPr>
            <a:picLocks noChangeAspect="1"/>
          </p:cNvPicPr>
          <p:nvPr/>
        </p:nvPicPr>
        <p:blipFill>
          <a:blip r:embed="rId4"/>
          <a:stretch>
            <a:fillRect/>
          </a:stretch>
        </p:blipFill>
        <p:spPr>
          <a:xfrm rot="7847400">
            <a:off x="12098868" y="-1774736"/>
            <a:ext cx="9144000" cy="65491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24"/>
            <a:ext cx="16626554" cy="1095375"/>
          </a:xfrm>
          <a:prstGeom prst="rect">
            <a:avLst/>
          </a:prstGeom>
          <a:noFill/>
          <a:ln/>
        </p:spPr>
        <p:txBody>
          <a:bodyPr wrap="square" rtlCol="0" anchor="ctr"/>
          <a:lstStyle/>
          <a:p>
            <a:pPr marL="0" indent="0" algn="l">
              <a:lnSpc>
                <a:spcPct val="120000"/>
              </a:lnSpc>
              <a:buNone/>
            </a:pPr>
            <a:r>
              <a:rPr lang="en-US" sz="7200" b="1" dirty="0">
                <a:solidFill>
                  <a:srgbClr val="171C1B"/>
                </a:solidFill>
                <a:latin typeface="Open Sans" pitchFamily="34" charset="0"/>
                <a:ea typeface="Open Sans" pitchFamily="34" charset="-122"/>
                <a:cs typeface="Open Sans" pitchFamily="34" charset="-120"/>
              </a:rPr>
              <a:t>DATA PREPROCESSING</a:t>
            </a:r>
            <a:endParaRPr lang="en-US" sz="72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444" y="2726474"/>
            <a:ext cx="658768" cy="658768"/>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720" y="8287683"/>
            <a:ext cx="658768" cy="658768"/>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444" y="5507079"/>
            <a:ext cx="658768" cy="658768"/>
          </a:xfrm>
          <a:prstGeom prst="rect">
            <a:avLst/>
          </a:prstGeom>
        </p:spPr>
      </p:pic>
      <p:pic>
        <p:nvPicPr>
          <p:cNvPr id="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720" y="6897381"/>
            <a:ext cx="658768" cy="658768"/>
          </a:xfrm>
          <a:prstGeom prst="rect">
            <a:avLst/>
          </a:prstGeom>
        </p:spPr>
      </p:pic>
      <p:pic>
        <p:nvPicPr>
          <p:cNvPr id="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720" y="4116776"/>
            <a:ext cx="658768" cy="658768"/>
          </a:xfrm>
          <a:prstGeom prst="rect">
            <a:avLst/>
          </a:prstGeom>
        </p:spPr>
      </p:pic>
      <p:sp>
        <p:nvSpPr>
          <p:cNvPr id="8" name="Text 1"/>
          <p:cNvSpPr/>
          <p:nvPr/>
        </p:nvSpPr>
        <p:spPr>
          <a:xfrm>
            <a:off x="1918573" y="2726474"/>
            <a:ext cx="15415451" cy="371475"/>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Removed unwanted index columns to keep only meaningful data fields.</a:t>
            </a:r>
            <a:endParaRPr lang="en-US" sz="2100" dirty="0"/>
          </a:p>
        </p:txBody>
      </p:sp>
      <p:sp>
        <p:nvSpPr>
          <p:cNvPr id="9" name="Text 2"/>
          <p:cNvSpPr/>
          <p:nvPr/>
        </p:nvSpPr>
        <p:spPr>
          <a:xfrm>
            <a:off x="1918573" y="4116476"/>
            <a:ext cx="15415451" cy="371475"/>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Checked for missing values to identify incomplete records before analysis.</a:t>
            </a:r>
            <a:endParaRPr lang="en-US" sz="2100" dirty="0"/>
          </a:p>
        </p:txBody>
      </p:sp>
      <p:sp>
        <p:nvSpPr>
          <p:cNvPr id="10" name="Text 3"/>
          <p:cNvSpPr/>
          <p:nvPr/>
        </p:nvSpPr>
        <p:spPr>
          <a:xfrm>
            <a:off x="1918573" y="5506479"/>
            <a:ext cx="15415451" cy="371475"/>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Reviewed duplicate records to prevent repeated observations from skewing results.</a:t>
            </a:r>
            <a:endParaRPr lang="en-US" sz="2100" dirty="0"/>
          </a:p>
        </p:txBody>
      </p:sp>
      <p:sp>
        <p:nvSpPr>
          <p:cNvPr id="11" name="Text 4"/>
          <p:cNvSpPr/>
          <p:nvPr/>
        </p:nvSpPr>
        <p:spPr>
          <a:xfrm>
            <a:off x="1918573" y="6898148"/>
            <a:ext cx="15415451" cy="371475"/>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Encoded target classes with B mapped to 0 and M mapped to 1.</a:t>
            </a:r>
            <a:endParaRPr lang="en-US" sz="2100" dirty="0"/>
          </a:p>
        </p:txBody>
      </p:sp>
      <p:sp>
        <p:nvSpPr>
          <p:cNvPr id="12" name="Text 5"/>
          <p:cNvSpPr/>
          <p:nvPr/>
        </p:nvSpPr>
        <p:spPr>
          <a:xfrm>
            <a:off x="1918573" y="8289817"/>
            <a:ext cx="15415451" cy="371475"/>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Separated features from the target to prepare the cleaned data for modeling.</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24"/>
            <a:ext cx="16626554" cy="1095375"/>
          </a:xfrm>
          <a:prstGeom prst="rect">
            <a:avLst/>
          </a:prstGeom>
          <a:noFill/>
          <a:ln/>
        </p:spPr>
        <p:txBody>
          <a:bodyPr wrap="square" rtlCol="0" anchor="ctr"/>
          <a:lstStyle/>
          <a:p>
            <a:pPr marL="0" indent="0" algn="l">
              <a:lnSpc>
                <a:spcPct val="120000"/>
              </a:lnSpc>
              <a:buNone/>
            </a:pPr>
            <a:r>
              <a:rPr lang="en-US" sz="7200" b="1" dirty="0">
                <a:solidFill>
                  <a:srgbClr val="171C1B"/>
                </a:solidFill>
                <a:latin typeface="Open Sans" pitchFamily="34" charset="0"/>
                <a:ea typeface="Open Sans" pitchFamily="34" charset="-122"/>
                <a:cs typeface="Open Sans" pitchFamily="34" charset="-120"/>
              </a:rPr>
              <a:t>PREPARING THE DATASET</a:t>
            </a:r>
            <a:endParaRPr lang="en-US" sz="7200" dirty="0"/>
          </a:p>
        </p:txBody>
      </p:sp>
      <p:pic>
        <p:nvPicPr>
          <p:cNvPr id="3" name="Image 0" descr="preencoded.png"/>
          <p:cNvPicPr>
            <a:picLocks noChangeAspect="1"/>
          </p:cNvPicPr>
          <p:nvPr/>
        </p:nvPicPr>
        <p:blipFill>
          <a:blip r:embed="rId3"/>
          <a:stretch>
            <a:fillRect/>
          </a:stretch>
        </p:blipFill>
        <p:spPr>
          <a:xfrm>
            <a:off x="6260021" y="3730085"/>
            <a:ext cx="5779122" cy="4315530"/>
          </a:xfrm>
          <a:prstGeom prst="rect">
            <a:avLst/>
          </a:prstGeom>
        </p:spPr>
      </p:pic>
      <p:sp>
        <p:nvSpPr>
          <p:cNvPr id="4" name="Text 1"/>
          <p:cNvSpPr/>
          <p:nvPr/>
        </p:nvSpPr>
        <p:spPr>
          <a:xfrm>
            <a:off x="6607035" y="4499524"/>
            <a:ext cx="5023485" cy="428625"/>
          </a:xfrm>
          <a:prstGeom prst="rect">
            <a:avLst/>
          </a:prstGeom>
          <a:noFill/>
          <a:ln/>
        </p:spPr>
        <p:txBody>
          <a:bodyPr wrap="square" rtlCol="0" anchor="ctr"/>
          <a:lstStyle/>
          <a:p>
            <a:pPr marL="0" indent="0" algn="l">
              <a:lnSpc>
                <a:spcPct val="140000"/>
              </a:lnSpc>
              <a:buNone/>
            </a:pPr>
            <a:r>
              <a:rPr lang="en-US" sz="2400" b="1" dirty="0">
                <a:solidFill>
                  <a:srgbClr val="D0DCDB"/>
                </a:solidFill>
                <a:latin typeface="Open Sans" pitchFamily="34" charset="0"/>
                <a:ea typeface="Open Sans" pitchFamily="34" charset="-122"/>
                <a:cs typeface="Open Sans" pitchFamily="34" charset="-120"/>
              </a:rPr>
              <a:t>Training set</a:t>
            </a:r>
            <a:endParaRPr lang="en-US" sz="2400" dirty="0"/>
          </a:p>
        </p:txBody>
      </p:sp>
      <p:sp>
        <p:nvSpPr>
          <p:cNvPr id="5" name="Text 2"/>
          <p:cNvSpPr/>
          <p:nvPr/>
        </p:nvSpPr>
        <p:spPr>
          <a:xfrm>
            <a:off x="6637839" y="5787485"/>
            <a:ext cx="5023485" cy="1123950"/>
          </a:xfrm>
          <a:prstGeom prst="rect">
            <a:avLst/>
          </a:prstGeom>
          <a:noFill/>
          <a:ln/>
        </p:spPr>
        <p:txBody>
          <a:bodyPr wrap="square" rtlCol="0" anchor="ctr"/>
          <a:lstStyle/>
          <a:p>
            <a:pPr marL="0" indent="0" algn="l">
              <a:lnSpc>
                <a:spcPct val="140000"/>
              </a:lnSpc>
              <a:buNone/>
            </a:pPr>
            <a:r>
              <a:rPr lang="en-US" sz="2100" i="1" dirty="0">
                <a:solidFill>
                  <a:srgbClr val="D0DCDB"/>
                </a:solidFill>
                <a:latin typeface="Open Sans" pitchFamily="34" charset="0"/>
                <a:ea typeface="Open Sans" pitchFamily="34" charset="-122"/>
                <a:cs typeface="Open Sans" pitchFamily="34" charset="-120"/>
              </a:rPr>
              <a:t>The training set contains 80% of the dataset and is used to teach the model to identify patterns.</a:t>
            </a:r>
            <a:endParaRPr lang="en-US" sz="2100" dirty="0"/>
          </a:p>
        </p:txBody>
      </p:sp>
      <p:sp>
        <p:nvSpPr>
          <p:cNvPr id="6" name="Text 3"/>
          <p:cNvSpPr/>
          <p:nvPr/>
        </p:nvSpPr>
        <p:spPr>
          <a:xfrm>
            <a:off x="963463" y="4499524"/>
            <a:ext cx="5023485" cy="428625"/>
          </a:xfrm>
          <a:prstGeom prst="rect">
            <a:avLst/>
          </a:prstGeom>
          <a:noFill/>
          <a:ln/>
        </p:spPr>
        <p:txBody>
          <a:bodyPr wrap="square" rtlCol="0" anchor="ctr"/>
          <a:lstStyle/>
          <a:p>
            <a:pPr marL="0" indent="0" algn="l">
              <a:lnSpc>
                <a:spcPct val="140000"/>
              </a:lnSpc>
              <a:buNone/>
            </a:pPr>
            <a:r>
              <a:rPr lang="en-US" sz="2400" b="1" dirty="0">
                <a:solidFill>
                  <a:srgbClr val="171C1B"/>
                </a:solidFill>
                <a:latin typeface="Open Sans" pitchFamily="34" charset="0"/>
                <a:ea typeface="Open Sans" pitchFamily="34" charset="-122"/>
                <a:cs typeface="Open Sans" pitchFamily="34" charset="-120"/>
              </a:rPr>
              <a:t>Data split</a:t>
            </a:r>
            <a:endParaRPr lang="en-US" sz="2400" dirty="0"/>
          </a:p>
        </p:txBody>
      </p:sp>
      <p:sp>
        <p:nvSpPr>
          <p:cNvPr id="7" name="Text 4"/>
          <p:cNvSpPr/>
          <p:nvPr/>
        </p:nvSpPr>
        <p:spPr>
          <a:xfrm>
            <a:off x="994267" y="5787485"/>
            <a:ext cx="5023485" cy="742950"/>
          </a:xfrm>
          <a:prstGeom prst="rect">
            <a:avLst/>
          </a:prstGeom>
          <a:noFill/>
          <a:ln/>
        </p:spPr>
        <p:txBody>
          <a:bodyPr wrap="square" rtlCol="0" anchor="ctr"/>
          <a:lstStyle/>
          <a:p>
            <a:pPr marL="0" indent="0" algn="l">
              <a:lnSpc>
                <a:spcPct val="140000"/>
              </a:lnSpc>
              <a:buNone/>
            </a:pPr>
            <a:r>
              <a:rPr lang="en-US" sz="2100" i="1" dirty="0">
                <a:solidFill>
                  <a:srgbClr val="171C1B"/>
                </a:solidFill>
                <a:latin typeface="Open Sans" pitchFamily="34" charset="0"/>
                <a:ea typeface="Open Sans" pitchFamily="34" charset="-122"/>
                <a:cs typeface="Open Sans" pitchFamily="34" charset="-120"/>
              </a:rPr>
              <a:t>We divide the dataset into 80% for model training.</a:t>
            </a:r>
            <a:endParaRPr lang="en-US" sz="2100" dirty="0"/>
          </a:p>
        </p:txBody>
      </p:sp>
      <p:sp>
        <p:nvSpPr>
          <p:cNvPr id="8" name="Text 5"/>
          <p:cNvSpPr/>
          <p:nvPr/>
        </p:nvSpPr>
        <p:spPr>
          <a:xfrm>
            <a:off x="12279725" y="4499524"/>
            <a:ext cx="5023485" cy="428625"/>
          </a:xfrm>
          <a:prstGeom prst="rect">
            <a:avLst/>
          </a:prstGeom>
          <a:noFill/>
          <a:ln/>
        </p:spPr>
        <p:txBody>
          <a:bodyPr wrap="square" rtlCol="0" anchor="ctr"/>
          <a:lstStyle/>
          <a:p>
            <a:pPr marL="0" indent="0" algn="l">
              <a:lnSpc>
                <a:spcPct val="140000"/>
              </a:lnSpc>
              <a:buNone/>
            </a:pPr>
            <a:r>
              <a:rPr lang="en-US" sz="2400" b="1" dirty="0">
                <a:solidFill>
                  <a:srgbClr val="171C1B"/>
                </a:solidFill>
                <a:latin typeface="Open Sans" pitchFamily="34" charset="0"/>
                <a:ea typeface="Open Sans" pitchFamily="34" charset="-122"/>
                <a:cs typeface="Open Sans" pitchFamily="34" charset="-120"/>
              </a:rPr>
              <a:t>Test set</a:t>
            </a:r>
            <a:endParaRPr lang="en-US" sz="2400" dirty="0"/>
          </a:p>
        </p:txBody>
      </p:sp>
      <p:sp>
        <p:nvSpPr>
          <p:cNvPr id="9" name="Text 6"/>
          <p:cNvSpPr/>
          <p:nvPr/>
        </p:nvSpPr>
        <p:spPr>
          <a:xfrm>
            <a:off x="12310586" y="5787485"/>
            <a:ext cx="5023485" cy="1123950"/>
          </a:xfrm>
          <a:prstGeom prst="rect">
            <a:avLst/>
          </a:prstGeom>
          <a:noFill/>
          <a:ln/>
        </p:spPr>
        <p:txBody>
          <a:bodyPr wrap="square" rtlCol="0" anchor="ctr"/>
          <a:lstStyle/>
          <a:p>
            <a:pPr marL="0" indent="0" algn="l">
              <a:lnSpc>
                <a:spcPct val="140000"/>
              </a:lnSpc>
              <a:buNone/>
            </a:pPr>
            <a:r>
              <a:rPr lang="en-US" sz="2100" i="1" dirty="0">
                <a:solidFill>
                  <a:srgbClr val="171C1B"/>
                </a:solidFill>
                <a:latin typeface="Open Sans" pitchFamily="34" charset="0"/>
                <a:ea typeface="Open Sans" pitchFamily="34" charset="-122"/>
                <a:cs typeface="Open Sans" pitchFamily="34" charset="-120"/>
              </a:rPr>
              <a:t>The remaining 20% is reserved for testing to evaluate how well the trained model performs on unseen data.</a:t>
            </a:r>
            <a:endParaRPr lang="en-US" sz="2100" dirty="0"/>
          </a:p>
        </p:txBody>
      </p:sp>
      <p:pic>
        <p:nvPicPr>
          <p:cNvPr id="10" name="Image 1" descr="preencoded.png"/>
          <p:cNvPicPr>
            <a:picLocks noChangeAspect="1"/>
          </p:cNvPicPr>
          <p:nvPr/>
        </p:nvPicPr>
        <p:blipFill>
          <a:blip r:embed="rId4"/>
          <a:stretch>
            <a:fillRect/>
          </a:stretch>
        </p:blipFill>
        <p:spPr>
          <a:xfrm rot="7732320">
            <a:off x="10904601" y="-2224811"/>
            <a:ext cx="9972485" cy="71425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24"/>
            <a:ext cx="16626554" cy="1828800"/>
          </a:xfrm>
          <a:prstGeom prst="rect">
            <a:avLst/>
          </a:prstGeom>
          <a:noFill/>
          <a:ln/>
        </p:spPr>
        <p:txBody>
          <a:bodyPr wrap="square" rtlCol="0" anchor="ctr"/>
          <a:lstStyle/>
          <a:p>
            <a:pPr marL="0" indent="0" algn="l">
              <a:lnSpc>
                <a:spcPct val="100000"/>
              </a:lnSpc>
              <a:buNone/>
            </a:pPr>
            <a:r>
              <a:rPr lang="en-US" sz="7200" b="1" dirty="0">
                <a:solidFill>
                  <a:srgbClr val="171C1B"/>
                </a:solidFill>
                <a:latin typeface="Open Sans" pitchFamily="34" charset="0"/>
                <a:ea typeface="Open Sans" pitchFamily="34" charset="-122"/>
                <a:cs typeface="Open Sans" pitchFamily="34" charset="-120"/>
              </a:rPr>
              <a:t>THREE CLASSIFICATION APPROACHES</a:t>
            </a:r>
            <a:endParaRPr lang="en-US" sz="7200" dirty="0"/>
          </a:p>
        </p:txBody>
      </p:sp>
      <p:sp>
        <p:nvSpPr>
          <p:cNvPr id="3" name="Text 1"/>
          <p:cNvSpPr/>
          <p:nvPr/>
        </p:nvSpPr>
        <p:spPr>
          <a:xfrm>
            <a:off x="1359427" y="5991739"/>
            <a:ext cx="4606576"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DECISION TREE</a:t>
            </a:r>
            <a:endParaRPr lang="en-US" sz="2400" dirty="0"/>
          </a:p>
        </p:txBody>
      </p:sp>
      <p:sp>
        <p:nvSpPr>
          <p:cNvPr id="4" name="Text 2"/>
          <p:cNvSpPr/>
          <p:nvPr/>
        </p:nvSpPr>
        <p:spPr>
          <a:xfrm>
            <a:off x="6857552" y="5992463"/>
            <a:ext cx="4606576"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RANDOM FOREST</a:t>
            </a:r>
            <a:endParaRPr lang="en-US" sz="2400" dirty="0"/>
          </a:p>
        </p:txBody>
      </p:sp>
      <p:sp>
        <p:nvSpPr>
          <p:cNvPr id="5" name="Text 3"/>
          <p:cNvSpPr/>
          <p:nvPr/>
        </p:nvSpPr>
        <p:spPr>
          <a:xfrm>
            <a:off x="12347734" y="5991635"/>
            <a:ext cx="4606576"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SUPPORT VECTOR MACHINE</a:t>
            </a:r>
            <a:endParaRPr lang="en-US" sz="2400" dirty="0"/>
          </a:p>
        </p:txBody>
      </p:sp>
      <p:sp>
        <p:nvSpPr>
          <p:cNvPr id="6" name="Text 4"/>
          <p:cNvSpPr/>
          <p:nvPr/>
        </p:nvSpPr>
        <p:spPr>
          <a:xfrm>
            <a:off x="1346054" y="6601806"/>
            <a:ext cx="4606576"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an interpretable tree structure assigns classes through clear decision paths</a:t>
            </a:r>
            <a:endParaRPr lang="en-US" sz="2100" dirty="0"/>
          </a:p>
        </p:txBody>
      </p:sp>
      <p:sp>
        <p:nvSpPr>
          <p:cNvPr id="7" name="Text 5"/>
          <p:cNvSpPr/>
          <p:nvPr/>
        </p:nvSpPr>
        <p:spPr>
          <a:xfrm>
            <a:off x="6844179" y="6602530"/>
            <a:ext cx="4606576" cy="742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combines many decision trees to improve predictive accuracy</a:t>
            </a:r>
            <a:endParaRPr lang="en-US" sz="2100" dirty="0"/>
          </a:p>
        </p:txBody>
      </p:sp>
      <p:sp>
        <p:nvSpPr>
          <p:cNvPr id="8" name="Text 6"/>
          <p:cNvSpPr/>
          <p:nvPr/>
        </p:nvSpPr>
        <p:spPr>
          <a:xfrm>
            <a:off x="12334399" y="6601701"/>
            <a:ext cx="4606576"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finds an optimal hyperplane to separate classes for effective classification</a:t>
            </a:r>
            <a:endParaRPr lang="en-US" sz="210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1377" y="4063984"/>
            <a:ext cx="1442676" cy="1442676"/>
          </a:xfrm>
          <a:prstGeom prst="rect">
            <a:avLst/>
          </a:prstGeom>
        </p:spPr>
      </p:pic>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39912" y="4065451"/>
            <a:ext cx="1441847" cy="1441847"/>
          </a:xfrm>
          <a:prstGeom prst="rect">
            <a:avLst/>
          </a:prstGeom>
        </p:spPr>
      </p:pic>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16692" y="4064622"/>
            <a:ext cx="1441847" cy="1441847"/>
          </a:xfrm>
          <a:prstGeom prst="rect">
            <a:avLst/>
          </a:prstGeom>
        </p:spPr>
      </p:pic>
      <p:pic>
        <p:nvPicPr>
          <p:cNvPr id="12" name="Image 3" descr="preencoded.png"/>
          <p:cNvPicPr>
            <a:picLocks noChangeAspect="1"/>
          </p:cNvPicPr>
          <p:nvPr/>
        </p:nvPicPr>
        <p:blipFill>
          <a:blip r:embed="rId6"/>
          <a:stretch>
            <a:fillRect/>
          </a:stretch>
        </p:blipFill>
        <p:spPr>
          <a:xfrm>
            <a:off x="12094559" y="3813715"/>
            <a:ext cx="5089731" cy="4380757"/>
          </a:xfrm>
          <a:prstGeom prst="rect">
            <a:avLst/>
          </a:prstGeom>
        </p:spPr>
      </p:pic>
      <p:pic>
        <p:nvPicPr>
          <p:cNvPr id="13" name="Image 4" descr="preencoded.png"/>
          <p:cNvPicPr>
            <a:picLocks noChangeAspect="1"/>
          </p:cNvPicPr>
          <p:nvPr/>
        </p:nvPicPr>
        <p:blipFill>
          <a:blip r:embed="rId6"/>
          <a:stretch>
            <a:fillRect/>
          </a:stretch>
        </p:blipFill>
        <p:spPr>
          <a:xfrm>
            <a:off x="6618037" y="3813715"/>
            <a:ext cx="5089731" cy="4380757"/>
          </a:xfrm>
          <a:prstGeom prst="rect">
            <a:avLst/>
          </a:prstGeom>
        </p:spPr>
      </p:pic>
      <p:pic>
        <p:nvPicPr>
          <p:cNvPr id="14" name="Image 5" descr="preencoded.png"/>
          <p:cNvPicPr>
            <a:picLocks noChangeAspect="1"/>
          </p:cNvPicPr>
          <p:nvPr/>
        </p:nvPicPr>
        <p:blipFill>
          <a:blip r:embed="rId6"/>
          <a:stretch>
            <a:fillRect/>
          </a:stretch>
        </p:blipFill>
        <p:spPr>
          <a:xfrm>
            <a:off x="1114901" y="3715036"/>
            <a:ext cx="5089731" cy="4380757"/>
          </a:xfrm>
          <a:prstGeom prst="rect">
            <a:avLst/>
          </a:prstGeom>
        </p:spPr>
      </p:pic>
      <p:sp>
        <p:nvSpPr>
          <p:cNvPr id="15" name="Text 7"/>
          <p:cNvSpPr/>
          <p:nvPr/>
        </p:nvSpPr>
        <p:spPr>
          <a:xfrm>
            <a:off x="945118" y="8590626"/>
            <a:ext cx="14833283" cy="371475"/>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Decision trees make outcomes interpretable;ensemble and margin methods strengthen classification.</a:t>
            </a:r>
            <a:endParaRPr lang="en-US" sz="2100" dirty="0"/>
          </a:p>
        </p:txBody>
      </p:sp>
      <p:pic>
        <p:nvPicPr>
          <p:cNvPr id="16" name="Image 6" descr="preencoded.png"/>
          <p:cNvPicPr>
            <a:picLocks noChangeAspect="1"/>
          </p:cNvPicPr>
          <p:nvPr/>
        </p:nvPicPr>
        <p:blipFill>
          <a:blip r:embed="rId7"/>
          <a:stretch>
            <a:fillRect/>
          </a:stretch>
        </p:blipFill>
        <p:spPr>
          <a:xfrm rot="7847400">
            <a:off x="11916347" y="-677247"/>
            <a:ext cx="7724242" cy="55322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24"/>
            <a:ext cx="16626554" cy="1095375"/>
          </a:xfrm>
          <a:prstGeom prst="rect">
            <a:avLst/>
          </a:prstGeom>
          <a:noFill/>
          <a:ln/>
        </p:spPr>
        <p:txBody>
          <a:bodyPr wrap="square" rtlCol="0" anchor="ctr"/>
          <a:lstStyle/>
          <a:p>
            <a:pPr marL="0" indent="0" algn="l">
              <a:lnSpc>
                <a:spcPct val="120000"/>
              </a:lnSpc>
              <a:buNone/>
            </a:pPr>
            <a:r>
              <a:rPr lang="en-US" sz="7200" b="1" dirty="0">
                <a:solidFill>
                  <a:srgbClr val="171C1B"/>
                </a:solidFill>
                <a:latin typeface="Open Sans" pitchFamily="34" charset="0"/>
                <a:ea typeface="Open Sans" pitchFamily="34" charset="-122"/>
                <a:cs typeface="Open Sans" pitchFamily="34" charset="-120"/>
              </a:rPr>
              <a:t>TRAINING WORKFLOW</a:t>
            </a:r>
            <a:endParaRPr lang="en-US" sz="7200" dirty="0"/>
          </a:p>
        </p:txBody>
      </p:sp>
      <p:pic>
        <p:nvPicPr>
          <p:cNvPr id="3" name="Image 0" descr="preencoded.png"/>
          <p:cNvPicPr>
            <a:picLocks noChangeAspect="1"/>
          </p:cNvPicPr>
          <p:nvPr/>
        </p:nvPicPr>
        <p:blipFill>
          <a:blip r:embed="rId3"/>
          <a:stretch>
            <a:fillRect/>
          </a:stretch>
        </p:blipFill>
        <p:spPr>
          <a:xfrm>
            <a:off x="905246" y="4992291"/>
            <a:ext cx="16375571" cy="38100"/>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37827" y="4641132"/>
            <a:ext cx="758828" cy="758828"/>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696057" y="4641132"/>
            <a:ext cx="758828" cy="758828"/>
          </a:xfrm>
          <a:prstGeom prst="rect">
            <a:avLst/>
          </a:prstGeom>
        </p:spPr>
      </p:pic>
      <p:pic>
        <p:nvPicPr>
          <p:cNvPr id="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16966" y="4641132"/>
            <a:ext cx="758828" cy="758828"/>
          </a:xfrm>
          <a:prstGeom prst="rect">
            <a:avLst/>
          </a:prstGeom>
        </p:spPr>
      </p:pic>
      <p:pic>
        <p:nvPicPr>
          <p:cNvPr id="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7396" y="4641132"/>
            <a:ext cx="758828" cy="758828"/>
          </a:xfrm>
          <a:prstGeom prst="rect">
            <a:avLst/>
          </a:prstGeom>
        </p:spPr>
      </p:pic>
      <p:pic>
        <p:nvPicPr>
          <p:cNvPr id="8"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06478" y="4641132"/>
            <a:ext cx="758828" cy="758828"/>
          </a:xfrm>
          <a:prstGeom prst="rect">
            <a:avLst/>
          </a:prstGeom>
        </p:spPr>
      </p:pic>
      <p:sp>
        <p:nvSpPr>
          <p:cNvPr id="9" name="Text 1"/>
          <p:cNvSpPr/>
          <p:nvPr/>
        </p:nvSpPr>
        <p:spPr>
          <a:xfrm>
            <a:off x="891873" y="3914089"/>
            <a:ext cx="2505094" cy="428625"/>
          </a:xfrm>
          <a:prstGeom prst="rect">
            <a:avLst/>
          </a:prstGeom>
          <a:noFill/>
          <a:ln/>
        </p:spPr>
        <p:txBody>
          <a:bodyPr wrap="square" rtlCol="0" anchor="ctr"/>
          <a:lstStyle/>
          <a:p>
            <a:pPr marL="0" indent="0" algn="ctr">
              <a:lnSpc>
                <a:spcPct val="140000"/>
              </a:lnSpc>
              <a:buNone/>
            </a:pPr>
            <a:r>
              <a:rPr lang="en-US" sz="2400" b="1" dirty="0">
                <a:solidFill>
                  <a:srgbClr val="000000"/>
                </a:solidFill>
                <a:latin typeface="Open Sans" pitchFamily="34" charset="0"/>
                <a:ea typeface="Open Sans" pitchFamily="34" charset="-122"/>
                <a:cs typeface="Open Sans" pitchFamily="34" charset="-120"/>
              </a:rPr>
              <a:t>1</a:t>
            </a:r>
            <a:endParaRPr lang="en-US" sz="2400" b="1" dirty="0"/>
          </a:p>
        </p:txBody>
      </p:sp>
      <p:sp>
        <p:nvSpPr>
          <p:cNvPr id="10" name="Text 2"/>
          <p:cNvSpPr/>
          <p:nvPr/>
        </p:nvSpPr>
        <p:spPr>
          <a:xfrm>
            <a:off x="891873" y="5679967"/>
            <a:ext cx="2505094"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Prepare and clean the dataset for modeling</a:t>
            </a:r>
            <a:endParaRPr lang="en-US" sz="2100" dirty="0"/>
          </a:p>
        </p:txBody>
      </p:sp>
      <p:sp>
        <p:nvSpPr>
          <p:cNvPr id="11" name="Text 3"/>
          <p:cNvSpPr/>
          <p:nvPr/>
        </p:nvSpPr>
        <p:spPr>
          <a:xfrm>
            <a:off x="4359707" y="3914080"/>
            <a:ext cx="2505094"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2</a:t>
            </a:r>
            <a:endParaRPr lang="en-US" sz="2400" dirty="0"/>
          </a:p>
        </p:txBody>
      </p:sp>
      <p:sp>
        <p:nvSpPr>
          <p:cNvPr id="12" name="Text 4"/>
          <p:cNvSpPr/>
          <p:nvPr/>
        </p:nvSpPr>
        <p:spPr>
          <a:xfrm>
            <a:off x="4359707" y="5679958"/>
            <a:ext cx="2505094"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Split data into training and test sets</a:t>
            </a:r>
            <a:endParaRPr lang="en-US" sz="2100" dirty="0"/>
          </a:p>
        </p:txBody>
      </p:sp>
      <p:sp>
        <p:nvSpPr>
          <p:cNvPr id="13" name="Text 5"/>
          <p:cNvSpPr/>
          <p:nvPr/>
        </p:nvSpPr>
        <p:spPr>
          <a:xfrm>
            <a:off x="7833036" y="3914080"/>
            <a:ext cx="2505094"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3</a:t>
            </a:r>
            <a:endParaRPr lang="en-US" sz="2400" dirty="0"/>
          </a:p>
        </p:txBody>
      </p:sp>
      <p:sp>
        <p:nvSpPr>
          <p:cNvPr id="14" name="Text 6"/>
          <p:cNvSpPr/>
          <p:nvPr/>
        </p:nvSpPr>
        <p:spPr>
          <a:xfrm>
            <a:off x="7833036" y="5679958"/>
            <a:ext cx="2505094"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Train Decision Tree, Random Forest, and SVM</a:t>
            </a:r>
            <a:endParaRPr lang="en-US" sz="2100" dirty="0"/>
          </a:p>
        </p:txBody>
      </p:sp>
      <p:sp>
        <p:nvSpPr>
          <p:cNvPr id="15" name="Text 7"/>
          <p:cNvSpPr/>
          <p:nvPr/>
        </p:nvSpPr>
        <p:spPr>
          <a:xfrm>
            <a:off x="11338846" y="3914080"/>
            <a:ext cx="2505094"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4</a:t>
            </a:r>
            <a:endParaRPr lang="en-US" sz="2400" dirty="0"/>
          </a:p>
        </p:txBody>
      </p:sp>
      <p:sp>
        <p:nvSpPr>
          <p:cNvPr id="16" name="Text 8"/>
          <p:cNvSpPr/>
          <p:nvPr/>
        </p:nvSpPr>
        <p:spPr>
          <a:xfrm>
            <a:off x="11338846" y="5679958"/>
            <a:ext cx="2505094"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Generate predictions from each trained model</a:t>
            </a:r>
            <a:endParaRPr lang="en-US" sz="2100" dirty="0"/>
          </a:p>
        </p:txBody>
      </p:sp>
      <p:sp>
        <p:nvSpPr>
          <p:cNvPr id="17" name="Text 9"/>
          <p:cNvSpPr/>
          <p:nvPr/>
        </p:nvSpPr>
        <p:spPr>
          <a:xfrm>
            <a:off x="14828901" y="3914080"/>
            <a:ext cx="2505094" cy="428625"/>
          </a:xfrm>
          <a:prstGeom prst="rect">
            <a:avLst/>
          </a:prstGeom>
          <a:noFill/>
          <a:ln/>
        </p:spPr>
        <p:txBody>
          <a:bodyPr wrap="square" rtlCol="0" anchor="ctr"/>
          <a:lstStyle/>
          <a:p>
            <a:pPr marL="0" indent="0" algn="ctr">
              <a:lnSpc>
                <a:spcPct val="140000"/>
              </a:lnSpc>
              <a:buNone/>
            </a:pPr>
            <a:r>
              <a:rPr lang="en-US" sz="2400" b="1" dirty="0">
                <a:solidFill>
                  <a:srgbClr val="171C1B"/>
                </a:solidFill>
                <a:latin typeface="Open Sans" pitchFamily="34" charset="0"/>
                <a:ea typeface="Open Sans" pitchFamily="34" charset="-122"/>
                <a:cs typeface="Open Sans" pitchFamily="34" charset="-120"/>
              </a:rPr>
              <a:t>5</a:t>
            </a:r>
            <a:endParaRPr lang="en-US" sz="2400" dirty="0"/>
          </a:p>
        </p:txBody>
      </p:sp>
      <p:sp>
        <p:nvSpPr>
          <p:cNvPr id="18" name="Text 10"/>
          <p:cNvSpPr/>
          <p:nvPr/>
        </p:nvSpPr>
        <p:spPr>
          <a:xfrm>
            <a:off x="14828901" y="5679958"/>
            <a:ext cx="2505094" cy="1123950"/>
          </a:xfrm>
          <a:prstGeom prst="rect">
            <a:avLst/>
          </a:prstGeom>
          <a:noFill/>
          <a:ln/>
        </p:spPr>
        <p:txBody>
          <a:bodyPr wrap="square" rtlCol="0" anchor="ctr"/>
          <a:lstStyle/>
          <a:p>
            <a:pPr marL="0" indent="0" algn="ctr">
              <a:lnSpc>
                <a:spcPct val="140000"/>
              </a:lnSpc>
              <a:buNone/>
            </a:pPr>
            <a:r>
              <a:rPr lang="en-US" sz="2100" dirty="0">
                <a:solidFill>
                  <a:srgbClr val="171C1B"/>
                </a:solidFill>
                <a:latin typeface="Open Sans" pitchFamily="34" charset="0"/>
                <a:ea typeface="Open Sans" pitchFamily="34" charset="-122"/>
                <a:cs typeface="Open Sans" pitchFamily="34" charset="-120"/>
              </a:rPr>
              <a:t>Evaluate results and compare model performance</a:t>
            </a:r>
            <a:endParaRPr lang="en-US" sz="2100" dirty="0"/>
          </a:p>
        </p:txBody>
      </p:sp>
      <p:sp>
        <p:nvSpPr>
          <p:cNvPr id="19" name="Text 11"/>
          <p:cNvSpPr/>
          <p:nvPr/>
        </p:nvSpPr>
        <p:spPr>
          <a:xfrm>
            <a:off x="945118" y="8590626"/>
            <a:ext cx="16425672" cy="742950"/>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The workflow prepares and splits the dataset before fitting three complementary models. Each model then generates predictions, and results are evaluated to compare performance and understand how well the models generalize.</a:t>
            </a:r>
            <a:endParaRPr lang="en-US" sz="2100" dirty="0"/>
          </a:p>
        </p:txBody>
      </p:sp>
      <p:pic>
        <p:nvPicPr>
          <p:cNvPr id="20" name="Image 6" descr="preencoded.png"/>
          <p:cNvPicPr>
            <a:picLocks noChangeAspect="1"/>
          </p:cNvPicPr>
          <p:nvPr/>
        </p:nvPicPr>
        <p:blipFill>
          <a:blip r:embed="rId5"/>
          <a:stretch>
            <a:fillRect/>
          </a:stretch>
        </p:blipFill>
        <p:spPr>
          <a:xfrm rot="900000">
            <a:off x="-3613537" y="5870600"/>
            <a:ext cx="9144000" cy="6549104"/>
          </a:xfrm>
          <a:prstGeom prst="rect">
            <a:avLst/>
          </a:prstGeom>
        </p:spPr>
      </p:pic>
      <p:pic>
        <p:nvPicPr>
          <p:cNvPr id="21" name="Image 7" descr="preencoded.png"/>
          <p:cNvPicPr>
            <a:picLocks noChangeAspect="1"/>
          </p:cNvPicPr>
          <p:nvPr/>
        </p:nvPicPr>
        <p:blipFill>
          <a:blip r:embed="rId6"/>
          <a:stretch>
            <a:fillRect/>
          </a:stretch>
        </p:blipFill>
        <p:spPr>
          <a:xfrm rot="7200000">
            <a:off x="12140834" y="-2864589"/>
            <a:ext cx="9972485" cy="71425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33"/>
            <a:ext cx="13610844" cy="1287961"/>
          </a:xfrm>
          <a:prstGeom prst="rect">
            <a:avLst/>
          </a:prstGeom>
          <a:noFill/>
          <a:ln/>
        </p:spPr>
        <p:txBody>
          <a:bodyPr wrap="square" rtlCol="0" anchor="ctr"/>
          <a:lstStyle/>
          <a:p>
            <a:pPr marL="0" indent="0" algn="l">
              <a:lnSpc>
                <a:spcPct val="120000"/>
              </a:lnSpc>
              <a:buNone/>
            </a:pPr>
            <a:r>
              <a:rPr lang="en-US" sz="8429" b="1" dirty="0">
                <a:solidFill>
                  <a:srgbClr val="171C1B"/>
                </a:solidFill>
                <a:latin typeface="Open Sans" pitchFamily="34" charset="0"/>
                <a:ea typeface="Open Sans" pitchFamily="34" charset="-122"/>
                <a:cs typeface="Open Sans" pitchFamily="34" charset="-120"/>
              </a:rPr>
              <a:t>RESULTS</a:t>
            </a:r>
            <a:endParaRPr lang="en-US" sz="8429" dirty="0"/>
          </a:p>
        </p:txBody>
      </p:sp>
      <p:pic>
        <p:nvPicPr>
          <p:cNvPr id="3" name="Image 0" descr="preencoded.png"/>
          <p:cNvPicPr>
            <a:picLocks noChangeAspect="1"/>
          </p:cNvPicPr>
          <p:nvPr/>
        </p:nvPicPr>
        <p:blipFill>
          <a:blip r:embed="rId3"/>
          <a:stretch>
            <a:fillRect/>
          </a:stretch>
        </p:blipFill>
        <p:spPr>
          <a:xfrm>
            <a:off x="958444" y="4014445"/>
            <a:ext cx="4926054" cy="7129796"/>
          </a:xfrm>
          <a:prstGeom prst="rect">
            <a:avLst/>
          </a:prstGeom>
        </p:spPr>
      </p:pic>
      <p:sp>
        <p:nvSpPr>
          <p:cNvPr id="4" name="Text 1"/>
          <p:cNvSpPr/>
          <p:nvPr/>
        </p:nvSpPr>
        <p:spPr>
          <a:xfrm>
            <a:off x="2701176" y="4984594"/>
            <a:ext cx="1438932" cy="1371600"/>
          </a:xfrm>
          <a:prstGeom prst="rect">
            <a:avLst/>
          </a:prstGeom>
          <a:noFill/>
          <a:ln/>
        </p:spPr>
        <p:txBody>
          <a:bodyPr wrap="square" rtlCol="0" anchor="ctr"/>
          <a:lstStyle/>
          <a:p>
            <a:pPr marL="0" indent="0" algn="ctr">
              <a:lnSpc>
                <a:spcPct val="100000"/>
              </a:lnSpc>
              <a:buNone/>
            </a:pPr>
            <a:r>
              <a:rPr lang="en-US" sz="10800" b="1" dirty="0">
                <a:solidFill>
                  <a:srgbClr val="D0DCDB"/>
                </a:solidFill>
                <a:latin typeface="Open Sans" pitchFamily="34" charset="0"/>
                <a:ea typeface="Open Sans" pitchFamily="34" charset="-122"/>
                <a:cs typeface="Open Sans" pitchFamily="34" charset="-120"/>
              </a:rPr>
              <a:t>I</a:t>
            </a:r>
            <a:endParaRPr lang="en-US" sz="10800" dirty="0"/>
          </a:p>
        </p:txBody>
      </p:sp>
      <p:pic>
        <p:nvPicPr>
          <p:cNvPr id="5" name="Image 1" descr="preencoded.png"/>
          <p:cNvPicPr>
            <a:picLocks noChangeAspect="1"/>
          </p:cNvPicPr>
          <p:nvPr/>
        </p:nvPicPr>
        <p:blipFill>
          <a:blip r:embed="rId3"/>
          <a:stretch>
            <a:fillRect/>
          </a:stretch>
        </p:blipFill>
        <p:spPr>
          <a:xfrm>
            <a:off x="6686560" y="4014454"/>
            <a:ext cx="4926054" cy="7129796"/>
          </a:xfrm>
          <a:prstGeom prst="rect">
            <a:avLst/>
          </a:prstGeom>
        </p:spPr>
      </p:pic>
      <p:sp>
        <p:nvSpPr>
          <p:cNvPr id="6" name="Text 2"/>
          <p:cNvSpPr/>
          <p:nvPr/>
        </p:nvSpPr>
        <p:spPr>
          <a:xfrm>
            <a:off x="6687388" y="6624295"/>
            <a:ext cx="4924387" cy="476250"/>
          </a:xfrm>
          <a:prstGeom prst="rect">
            <a:avLst/>
          </a:prstGeom>
          <a:noFill/>
          <a:ln/>
        </p:spPr>
        <p:txBody>
          <a:bodyPr wrap="square" rtlCol="0" anchor="ctr"/>
          <a:lstStyle/>
          <a:p>
            <a:pPr marL="0" indent="0" algn="ctr">
              <a:lnSpc>
                <a:spcPct val="100000"/>
              </a:lnSpc>
              <a:buNone/>
            </a:pPr>
            <a:endParaRPr lang="en-US" sz="3600" b="1" dirty="0">
              <a:solidFill>
                <a:srgbClr val="D0DCDB"/>
              </a:solidFill>
              <a:latin typeface="Open Sans" pitchFamily="34" charset="0"/>
              <a:ea typeface="Open Sans" pitchFamily="34" charset="-122"/>
              <a:cs typeface="Open Sans" pitchFamily="34" charset="-120"/>
            </a:endParaRPr>
          </a:p>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RANDOM  FOREST</a:t>
            </a:r>
          </a:p>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Accuracy : 96.49%</a:t>
            </a:r>
            <a:endParaRPr lang="en-US" sz="3600" dirty="0"/>
          </a:p>
        </p:txBody>
      </p:sp>
      <p:sp>
        <p:nvSpPr>
          <p:cNvPr id="7" name="Text 3"/>
          <p:cNvSpPr/>
          <p:nvPr/>
        </p:nvSpPr>
        <p:spPr>
          <a:xfrm>
            <a:off x="8426682" y="4984604"/>
            <a:ext cx="1438932" cy="1371600"/>
          </a:xfrm>
          <a:prstGeom prst="rect">
            <a:avLst/>
          </a:prstGeom>
          <a:noFill/>
          <a:ln/>
        </p:spPr>
        <p:txBody>
          <a:bodyPr wrap="square" rtlCol="0" anchor="ctr"/>
          <a:lstStyle/>
          <a:p>
            <a:pPr marL="0" indent="0" algn="ctr">
              <a:lnSpc>
                <a:spcPct val="100000"/>
              </a:lnSpc>
              <a:buNone/>
            </a:pPr>
            <a:r>
              <a:rPr lang="en-US" sz="10800" b="1" dirty="0">
                <a:solidFill>
                  <a:srgbClr val="D0DCDB"/>
                </a:solidFill>
                <a:latin typeface="Open Sans" pitchFamily="34" charset="0"/>
                <a:ea typeface="Open Sans" pitchFamily="34" charset="-122"/>
                <a:cs typeface="Open Sans" pitchFamily="34" charset="-120"/>
              </a:rPr>
              <a:t>II</a:t>
            </a:r>
            <a:endParaRPr lang="en-US" sz="10800" dirty="0"/>
          </a:p>
        </p:txBody>
      </p:sp>
      <p:sp>
        <p:nvSpPr>
          <p:cNvPr id="8" name="Text 4"/>
          <p:cNvSpPr/>
          <p:nvPr/>
        </p:nvSpPr>
        <p:spPr>
          <a:xfrm>
            <a:off x="965044" y="6623828"/>
            <a:ext cx="4926063" cy="476250"/>
          </a:xfrm>
          <a:prstGeom prst="rect">
            <a:avLst/>
          </a:prstGeom>
          <a:noFill/>
          <a:ln/>
        </p:spPr>
        <p:txBody>
          <a:bodyPr wrap="square" rtlCol="0" anchor="ctr"/>
          <a:lstStyle/>
          <a:p>
            <a:pPr marL="0" indent="0" algn="ctr">
              <a:lnSpc>
                <a:spcPct val="100000"/>
              </a:lnSpc>
              <a:buNone/>
            </a:pPr>
            <a:endParaRPr lang="en-US" sz="3600" b="1" dirty="0">
              <a:solidFill>
                <a:srgbClr val="D0DCDB"/>
              </a:solidFill>
              <a:latin typeface="Open Sans" pitchFamily="34" charset="0"/>
              <a:ea typeface="Open Sans" pitchFamily="34" charset="-122"/>
              <a:cs typeface="Open Sans" pitchFamily="34" charset="-120"/>
            </a:endParaRPr>
          </a:p>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SVM</a:t>
            </a:r>
          </a:p>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Accuracy : 97.37%</a:t>
            </a:r>
            <a:endParaRPr lang="en-US" sz="3600" dirty="0"/>
          </a:p>
        </p:txBody>
      </p:sp>
      <p:pic>
        <p:nvPicPr>
          <p:cNvPr id="9" name="Image 2" descr="preencoded.png"/>
          <p:cNvPicPr>
            <a:picLocks noChangeAspect="1"/>
          </p:cNvPicPr>
          <p:nvPr/>
        </p:nvPicPr>
        <p:blipFill>
          <a:blip r:embed="rId3"/>
          <a:stretch>
            <a:fillRect/>
          </a:stretch>
        </p:blipFill>
        <p:spPr>
          <a:xfrm>
            <a:off x="12407932" y="4014454"/>
            <a:ext cx="4926054" cy="7129796"/>
          </a:xfrm>
          <a:prstGeom prst="rect">
            <a:avLst/>
          </a:prstGeom>
        </p:spPr>
      </p:pic>
      <p:sp>
        <p:nvSpPr>
          <p:cNvPr id="10" name="Text 5"/>
          <p:cNvSpPr/>
          <p:nvPr/>
        </p:nvSpPr>
        <p:spPr>
          <a:xfrm>
            <a:off x="12383218" y="6599581"/>
            <a:ext cx="4926092" cy="476250"/>
          </a:xfrm>
          <a:prstGeom prst="rect">
            <a:avLst/>
          </a:prstGeom>
          <a:noFill/>
          <a:ln/>
        </p:spPr>
        <p:txBody>
          <a:bodyPr wrap="square" rtlCol="0" anchor="ctr"/>
          <a:lstStyle/>
          <a:p>
            <a:pPr marL="0" indent="0" algn="ctr">
              <a:lnSpc>
                <a:spcPct val="100000"/>
              </a:lnSpc>
              <a:buNone/>
            </a:pPr>
            <a:endParaRPr lang="en-US" sz="3600" b="1" dirty="0">
              <a:solidFill>
                <a:srgbClr val="D0DCDB"/>
              </a:solidFill>
              <a:latin typeface="Open Sans" pitchFamily="34" charset="0"/>
              <a:ea typeface="Open Sans" pitchFamily="34" charset="-122"/>
              <a:cs typeface="Open Sans" pitchFamily="34" charset="-120"/>
            </a:endParaRPr>
          </a:p>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Decision Tree</a:t>
            </a:r>
          </a:p>
          <a:p>
            <a:pPr marL="0" indent="0" algn="ctr">
              <a:lnSpc>
                <a:spcPct val="100000"/>
              </a:lnSpc>
              <a:buNone/>
            </a:pPr>
            <a:r>
              <a:rPr lang="en-US" sz="3600" b="1" dirty="0">
                <a:solidFill>
                  <a:srgbClr val="D0DCDB"/>
                </a:solidFill>
                <a:latin typeface="Open Sans" pitchFamily="34" charset="0"/>
                <a:ea typeface="Open Sans" pitchFamily="34" charset="-122"/>
                <a:cs typeface="Open Sans" pitchFamily="34" charset="-120"/>
              </a:rPr>
              <a:t>Accuracy : 92.98%</a:t>
            </a:r>
            <a:endParaRPr lang="en-US" sz="3600" dirty="0"/>
          </a:p>
        </p:txBody>
      </p:sp>
      <p:sp>
        <p:nvSpPr>
          <p:cNvPr id="11" name="Text 6"/>
          <p:cNvSpPr/>
          <p:nvPr/>
        </p:nvSpPr>
        <p:spPr>
          <a:xfrm>
            <a:off x="14159007" y="4984604"/>
            <a:ext cx="1731781" cy="1371600"/>
          </a:xfrm>
          <a:prstGeom prst="rect">
            <a:avLst/>
          </a:prstGeom>
          <a:noFill/>
          <a:ln/>
        </p:spPr>
        <p:txBody>
          <a:bodyPr wrap="square" rtlCol="0" anchor="ctr"/>
          <a:lstStyle/>
          <a:p>
            <a:pPr marL="0" indent="0" algn="ctr">
              <a:lnSpc>
                <a:spcPct val="100000"/>
              </a:lnSpc>
              <a:buNone/>
            </a:pPr>
            <a:r>
              <a:rPr lang="en-US" sz="10800" b="1" dirty="0">
                <a:solidFill>
                  <a:srgbClr val="D0DCDB"/>
                </a:solidFill>
                <a:latin typeface="Open Sans" pitchFamily="34" charset="0"/>
                <a:ea typeface="Open Sans" pitchFamily="34" charset="-122"/>
                <a:cs typeface="Open Sans" pitchFamily="34" charset="-120"/>
              </a:rPr>
              <a:t>III</a:t>
            </a:r>
            <a:endParaRPr lang="en-US" sz="10800" dirty="0"/>
          </a:p>
        </p:txBody>
      </p:sp>
      <p:pic>
        <p:nvPicPr>
          <p:cNvPr id="12" name="Image 3" descr="preencoded.png"/>
          <p:cNvPicPr>
            <a:picLocks noChangeAspect="1"/>
          </p:cNvPicPr>
          <p:nvPr/>
        </p:nvPicPr>
        <p:blipFill>
          <a:blip r:embed="rId4"/>
          <a:stretch>
            <a:fillRect/>
          </a:stretch>
        </p:blipFill>
        <p:spPr>
          <a:xfrm rot="7847400">
            <a:off x="11160267" y="-2013329"/>
            <a:ext cx="9144000" cy="65491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953424"/>
            <a:ext cx="16626554" cy="1095375"/>
          </a:xfrm>
          <a:prstGeom prst="rect">
            <a:avLst/>
          </a:prstGeom>
          <a:noFill/>
          <a:ln/>
        </p:spPr>
        <p:txBody>
          <a:bodyPr wrap="square" rtlCol="0" anchor="ctr"/>
          <a:lstStyle/>
          <a:p>
            <a:pPr marL="0" indent="0" algn="l">
              <a:lnSpc>
                <a:spcPct val="120000"/>
              </a:lnSpc>
              <a:buNone/>
            </a:pPr>
            <a:r>
              <a:rPr lang="en-US" sz="7200" b="1" dirty="0">
                <a:solidFill>
                  <a:srgbClr val="171C1B"/>
                </a:solidFill>
                <a:latin typeface="Open Sans" pitchFamily="34" charset="0"/>
                <a:ea typeface="Open Sans" pitchFamily="34" charset="-122"/>
                <a:cs typeface="Open Sans" pitchFamily="34" charset="-120"/>
              </a:rPr>
              <a:t>UNSEEN DATA RESULTS</a:t>
            </a:r>
            <a:endParaRPr lang="en-US" sz="72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444" y="2726474"/>
            <a:ext cx="658768" cy="658768"/>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720" y="8287683"/>
            <a:ext cx="658768" cy="658768"/>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444" y="5507079"/>
            <a:ext cx="658768" cy="658768"/>
          </a:xfrm>
          <a:prstGeom prst="rect">
            <a:avLst/>
          </a:prstGeom>
        </p:spPr>
      </p:pic>
      <p:pic>
        <p:nvPicPr>
          <p:cNvPr id="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720" y="6897381"/>
            <a:ext cx="658768" cy="658768"/>
          </a:xfrm>
          <a:prstGeom prst="rect">
            <a:avLst/>
          </a:prstGeom>
        </p:spPr>
      </p:pic>
      <p:pic>
        <p:nvPicPr>
          <p:cNvPr id="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8720" y="4116776"/>
            <a:ext cx="658768" cy="658768"/>
          </a:xfrm>
          <a:prstGeom prst="rect">
            <a:avLst/>
          </a:prstGeom>
        </p:spPr>
      </p:pic>
      <p:sp>
        <p:nvSpPr>
          <p:cNvPr id="8" name="Text 1"/>
          <p:cNvSpPr/>
          <p:nvPr/>
        </p:nvSpPr>
        <p:spPr>
          <a:xfrm>
            <a:off x="1918573" y="2726474"/>
            <a:ext cx="15415451" cy="742950"/>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Five unseen samples were submitted to the trained model for prediction, providing a small test of how it handles cases beyond the data used during development.</a:t>
            </a:r>
            <a:endParaRPr lang="en-US" sz="2100" dirty="0"/>
          </a:p>
        </p:txBody>
      </p:sp>
      <p:sp>
        <p:nvSpPr>
          <p:cNvPr id="9" name="Text 2"/>
          <p:cNvSpPr/>
          <p:nvPr/>
        </p:nvSpPr>
        <p:spPr>
          <a:xfrm>
            <a:off x="1918573" y="4116476"/>
            <a:ext cx="15415451" cy="742950"/>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The first test sample was classified as benign, indicating that the model assigned it to the non-malignant category based on the patterns it learned.</a:t>
            </a:r>
            <a:endParaRPr lang="en-US" sz="2100" dirty="0"/>
          </a:p>
        </p:txBody>
      </p:sp>
      <p:sp>
        <p:nvSpPr>
          <p:cNvPr id="10" name="Text 3"/>
          <p:cNvSpPr/>
          <p:nvPr/>
        </p:nvSpPr>
        <p:spPr>
          <a:xfrm>
            <a:off x="1918573" y="5506479"/>
            <a:ext cx="15415451" cy="742950"/>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The second sample was classified as malignant, distinguishing it from the other four test cases and reflecting the model’s prediction for this unseen input.</a:t>
            </a:r>
            <a:endParaRPr lang="en-US" sz="2100" dirty="0"/>
          </a:p>
        </p:txBody>
      </p:sp>
      <p:sp>
        <p:nvSpPr>
          <p:cNvPr id="11" name="Text 4"/>
          <p:cNvSpPr/>
          <p:nvPr/>
        </p:nvSpPr>
        <p:spPr>
          <a:xfrm>
            <a:off x="1918573" y="6898148"/>
            <a:ext cx="15415451" cy="742950"/>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Samples three and four were both classified as benign, extending the benign predictions across the majority of this five-sample test set.</a:t>
            </a:r>
            <a:endParaRPr lang="en-US" sz="2100" dirty="0"/>
          </a:p>
        </p:txBody>
      </p:sp>
      <p:sp>
        <p:nvSpPr>
          <p:cNvPr id="12" name="Text 5"/>
          <p:cNvSpPr/>
          <p:nvPr/>
        </p:nvSpPr>
        <p:spPr>
          <a:xfrm>
            <a:off x="1918573" y="8289817"/>
            <a:ext cx="15415451" cy="742950"/>
          </a:xfrm>
          <a:prstGeom prst="rect">
            <a:avLst/>
          </a:prstGeom>
          <a:noFill/>
          <a:ln/>
        </p:spPr>
        <p:txBody>
          <a:bodyPr wrap="square" rtlCol="0" anchor="ctr"/>
          <a:lstStyle/>
          <a:p>
            <a:pPr marL="0" indent="0" algn="l">
              <a:lnSpc>
                <a:spcPct val="140000"/>
              </a:lnSpc>
              <a:buNone/>
            </a:pPr>
            <a:r>
              <a:rPr lang="en-US" sz="2100" dirty="0">
                <a:solidFill>
                  <a:srgbClr val="171C1B"/>
                </a:solidFill>
                <a:latin typeface="Open Sans" pitchFamily="34" charset="0"/>
                <a:ea typeface="Open Sans" pitchFamily="34" charset="-122"/>
                <a:cs typeface="Open Sans" pitchFamily="34" charset="-120"/>
              </a:rPr>
              <a:t>The fifth sample was also classified as benign; overall, four samples were predicted benign and one malignant, demonstrating successful predictions on these unseen cases.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8444" y="1714500"/>
            <a:ext cx="16375571" cy="2286000"/>
          </a:xfrm>
          <a:prstGeom prst="rect">
            <a:avLst/>
          </a:prstGeom>
          <a:noFill/>
          <a:ln/>
        </p:spPr>
        <p:txBody>
          <a:bodyPr wrap="square" rtlCol="0" anchor="ctr"/>
          <a:lstStyle/>
          <a:p>
            <a:pPr marL="0" indent="0" algn="ctr">
              <a:lnSpc>
                <a:spcPct val="100000"/>
              </a:lnSpc>
              <a:buNone/>
            </a:pPr>
            <a:r>
              <a:rPr lang="en-US" sz="9000" b="1" dirty="0">
                <a:solidFill>
                  <a:srgbClr val="171C1B"/>
                </a:solidFill>
                <a:latin typeface="Open Sans" pitchFamily="34" charset="0"/>
                <a:ea typeface="Open Sans" pitchFamily="34" charset="-122"/>
                <a:cs typeface="Open Sans" pitchFamily="34" charset="-120"/>
              </a:rPr>
              <a:t>SVM LEADS TUMOR CLASSIFICATION</a:t>
            </a:r>
            <a:endParaRPr lang="en-US" sz="9000" dirty="0"/>
          </a:p>
        </p:txBody>
      </p:sp>
      <p:pic>
        <p:nvPicPr>
          <p:cNvPr id="3" name="Image 0" descr="preencoded.png"/>
          <p:cNvPicPr>
            <a:picLocks noChangeAspect="1"/>
          </p:cNvPicPr>
          <p:nvPr/>
        </p:nvPicPr>
        <p:blipFill>
          <a:blip r:embed="rId3"/>
          <a:stretch>
            <a:fillRect/>
          </a:stretch>
        </p:blipFill>
        <p:spPr>
          <a:xfrm>
            <a:off x="15510796" y="5787485"/>
            <a:ext cx="5143500" cy="5143500"/>
          </a:xfrm>
          <a:prstGeom prst="rect">
            <a:avLst/>
          </a:prstGeom>
        </p:spPr>
      </p:pic>
      <p:pic>
        <p:nvPicPr>
          <p:cNvPr id="4" name="Image 1" descr="preencoded.png"/>
          <p:cNvPicPr>
            <a:picLocks noChangeAspect="1"/>
          </p:cNvPicPr>
          <p:nvPr/>
        </p:nvPicPr>
        <p:blipFill>
          <a:blip r:embed="rId4"/>
          <a:stretch>
            <a:fillRect/>
          </a:stretch>
        </p:blipFill>
        <p:spPr>
          <a:xfrm>
            <a:off x="218656" y="171821"/>
            <a:ext cx="1701584" cy="1701584"/>
          </a:xfrm>
          <a:prstGeom prst="rect">
            <a:avLst/>
          </a:prstGeom>
        </p:spPr>
      </p:pic>
      <p:pic>
        <p:nvPicPr>
          <p:cNvPr id="5" name="Image 2" descr="preencoded.png"/>
          <p:cNvPicPr>
            <a:picLocks noChangeAspect="1"/>
          </p:cNvPicPr>
          <p:nvPr/>
        </p:nvPicPr>
        <p:blipFill>
          <a:blip r:embed="rId5"/>
          <a:stretch>
            <a:fillRect/>
          </a:stretch>
        </p:blipFill>
        <p:spPr>
          <a:xfrm>
            <a:off x="-1366590" y="7560535"/>
            <a:ext cx="3888515" cy="3888515"/>
          </a:xfrm>
          <a:prstGeom prst="rect">
            <a:avLst/>
          </a:prstGeom>
        </p:spPr>
      </p:pic>
      <p:pic>
        <p:nvPicPr>
          <p:cNvPr id="6" name="Image 3" descr="preencoded.png"/>
          <p:cNvPicPr>
            <a:picLocks noChangeAspect="1"/>
          </p:cNvPicPr>
          <p:nvPr/>
        </p:nvPicPr>
        <p:blipFill>
          <a:blip r:embed="rId6"/>
          <a:stretch>
            <a:fillRect/>
          </a:stretch>
        </p:blipFill>
        <p:spPr>
          <a:xfrm rot="1393620">
            <a:off x="13509689" y="1537687"/>
            <a:ext cx="9144000" cy="6549104"/>
          </a:xfrm>
          <a:prstGeom prst="rect">
            <a:avLst/>
          </a:prstGeom>
        </p:spPr>
      </p:pic>
      <p:pic>
        <p:nvPicPr>
          <p:cNvPr id="7" name="Image 4" descr="preencoded.png"/>
          <p:cNvPicPr>
            <a:picLocks noChangeAspect="1"/>
          </p:cNvPicPr>
          <p:nvPr/>
        </p:nvPicPr>
        <p:blipFill>
          <a:blip r:embed="rId7"/>
          <a:stretch>
            <a:fillRect/>
          </a:stretch>
        </p:blipFill>
        <p:spPr>
          <a:xfrm rot="3261660">
            <a:off x="-6139882" y="833676"/>
            <a:ext cx="9144000" cy="6549104"/>
          </a:xfrm>
          <a:prstGeom prst="rect">
            <a:avLst/>
          </a:prstGeom>
        </p:spPr>
      </p:pic>
      <p:sp>
        <p:nvSpPr>
          <p:cNvPr id="8" name="Text 1"/>
          <p:cNvSpPr/>
          <p:nvPr/>
        </p:nvSpPr>
        <p:spPr>
          <a:xfrm>
            <a:off x="4000500" y="4267200"/>
            <a:ext cx="3429000" cy="666750"/>
          </a:xfrm>
          <a:prstGeom prst="rect">
            <a:avLst/>
          </a:prstGeom>
          <a:noFill/>
          <a:ln/>
        </p:spPr>
        <p:txBody>
          <a:bodyPr wrap="square" rtlCol="0" anchor="ctr"/>
          <a:lstStyle/>
          <a:p>
            <a:pPr marL="0" indent="0" algn="ctr">
              <a:lnSpc>
                <a:spcPct val="110000"/>
              </a:lnSpc>
              <a:buNone/>
            </a:pPr>
            <a:r>
              <a:rPr lang="en-US" sz="4800" b="1" dirty="0">
                <a:solidFill>
                  <a:srgbClr val="545454"/>
                </a:solidFill>
                <a:latin typeface="Open Sans" pitchFamily="34" charset="0"/>
                <a:ea typeface="Open Sans" pitchFamily="34" charset="-122"/>
                <a:cs typeface="Open Sans" pitchFamily="34" charset="-120"/>
              </a:rPr>
              <a:t>92.98%</a:t>
            </a:r>
            <a:endParaRPr lang="en-US" sz="4800" dirty="0"/>
          </a:p>
        </p:txBody>
      </p:sp>
      <p:sp>
        <p:nvSpPr>
          <p:cNvPr id="9" name="Text 2"/>
          <p:cNvSpPr/>
          <p:nvPr/>
        </p:nvSpPr>
        <p:spPr>
          <a:xfrm>
            <a:off x="4000500" y="5086350"/>
            <a:ext cx="3429000" cy="276225"/>
          </a:xfrm>
          <a:prstGeom prst="rect">
            <a:avLst/>
          </a:prstGeom>
          <a:noFill/>
          <a:ln/>
        </p:spPr>
        <p:txBody>
          <a:bodyPr wrap="square" rtlCol="0" anchor="ctr"/>
          <a:lstStyle/>
          <a:p>
            <a:pPr marL="0" indent="0" algn="ctr">
              <a:lnSpc>
                <a:spcPct val="130000"/>
              </a:lnSpc>
              <a:buNone/>
            </a:pPr>
            <a:r>
              <a:rPr lang="en-US" sz="1650" b="1" dirty="0">
                <a:solidFill>
                  <a:srgbClr val="171C1B"/>
                </a:solidFill>
                <a:latin typeface="Open Sans" pitchFamily="34" charset="0"/>
                <a:ea typeface="Open Sans" pitchFamily="34" charset="-122"/>
                <a:cs typeface="Open Sans" pitchFamily="34" charset="-120"/>
              </a:rPr>
              <a:t>DECISION TREE</a:t>
            </a:r>
            <a:endParaRPr lang="en-US" sz="1650" dirty="0"/>
          </a:p>
        </p:txBody>
      </p:sp>
      <p:sp>
        <p:nvSpPr>
          <p:cNvPr id="10" name="Text 3"/>
          <p:cNvSpPr/>
          <p:nvPr/>
        </p:nvSpPr>
        <p:spPr>
          <a:xfrm>
            <a:off x="7429500" y="4267200"/>
            <a:ext cx="3429000" cy="666750"/>
          </a:xfrm>
          <a:prstGeom prst="rect">
            <a:avLst/>
          </a:prstGeom>
          <a:noFill/>
          <a:ln/>
        </p:spPr>
        <p:txBody>
          <a:bodyPr wrap="square" rtlCol="0" anchor="ctr"/>
          <a:lstStyle/>
          <a:p>
            <a:pPr marL="0" indent="0" algn="ctr">
              <a:lnSpc>
                <a:spcPct val="110000"/>
              </a:lnSpc>
              <a:buNone/>
            </a:pPr>
            <a:r>
              <a:rPr lang="en-US" sz="4800" b="1" dirty="0">
                <a:solidFill>
                  <a:srgbClr val="545454"/>
                </a:solidFill>
                <a:latin typeface="Open Sans" pitchFamily="34" charset="0"/>
                <a:ea typeface="Open Sans" pitchFamily="34" charset="-122"/>
                <a:cs typeface="Open Sans" pitchFamily="34" charset="-120"/>
              </a:rPr>
              <a:t>96.49%</a:t>
            </a:r>
            <a:endParaRPr lang="en-US" sz="4800" dirty="0"/>
          </a:p>
        </p:txBody>
      </p:sp>
      <p:sp>
        <p:nvSpPr>
          <p:cNvPr id="11" name="Text 4"/>
          <p:cNvSpPr/>
          <p:nvPr/>
        </p:nvSpPr>
        <p:spPr>
          <a:xfrm>
            <a:off x="7429500" y="5086350"/>
            <a:ext cx="3429000" cy="276225"/>
          </a:xfrm>
          <a:prstGeom prst="rect">
            <a:avLst/>
          </a:prstGeom>
          <a:noFill/>
          <a:ln/>
        </p:spPr>
        <p:txBody>
          <a:bodyPr wrap="square" rtlCol="0" anchor="ctr"/>
          <a:lstStyle/>
          <a:p>
            <a:pPr marL="0" indent="0" algn="ctr">
              <a:lnSpc>
                <a:spcPct val="130000"/>
              </a:lnSpc>
              <a:buNone/>
            </a:pPr>
            <a:r>
              <a:rPr lang="en-US" sz="1650" b="1" dirty="0">
                <a:solidFill>
                  <a:srgbClr val="171C1B"/>
                </a:solidFill>
                <a:latin typeface="Open Sans" pitchFamily="34" charset="0"/>
                <a:ea typeface="Open Sans" pitchFamily="34" charset="-122"/>
                <a:cs typeface="Open Sans" pitchFamily="34" charset="-120"/>
              </a:rPr>
              <a:t>RANDOM FOREST</a:t>
            </a:r>
            <a:endParaRPr lang="en-US" sz="1650" dirty="0"/>
          </a:p>
        </p:txBody>
      </p:sp>
      <p:sp>
        <p:nvSpPr>
          <p:cNvPr id="12" name="Text 5"/>
          <p:cNvSpPr/>
          <p:nvPr/>
        </p:nvSpPr>
        <p:spPr>
          <a:xfrm>
            <a:off x="10858500" y="4267200"/>
            <a:ext cx="3429000" cy="666750"/>
          </a:xfrm>
          <a:prstGeom prst="rect">
            <a:avLst/>
          </a:prstGeom>
          <a:noFill/>
          <a:ln/>
        </p:spPr>
        <p:txBody>
          <a:bodyPr wrap="square" rtlCol="0" anchor="ctr"/>
          <a:lstStyle/>
          <a:p>
            <a:pPr marL="0" indent="0" algn="ctr">
              <a:lnSpc>
                <a:spcPct val="110000"/>
              </a:lnSpc>
              <a:buNone/>
            </a:pPr>
            <a:r>
              <a:rPr lang="en-US" sz="4800" b="1" dirty="0">
                <a:solidFill>
                  <a:srgbClr val="5E17EB"/>
                </a:solidFill>
                <a:latin typeface="Open Sans" pitchFamily="34" charset="0"/>
                <a:ea typeface="Open Sans" pitchFamily="34" charset="-122"/>
                <a:cs typeface="Open Sans" pitchFamily="34" charset="-120"/>
              </a:rPr>
              <a:t>97.37%</a:t>
            </a:r>
            <a:endParaRPr lang="en-US" sz="4800" dirty="0"/>
          </a:p>
        </p:txBody>
      </p:sp>
      <p:sp>
        <p:nvSpPr>
          <p:cNvPr id="13" name="Text 6"/>
          <p:cNvSpPr/>
          <p:nvPr/>
        </p:nvSpPr>
        <p:spPr>
          <a:xfrm>
            <a:off x="10858500" y="5086350"/>
            <a:ext cx="3429000" cy="276225"/>
          </a:xfrm>
          <a:prstGeom prst="rect">
            <a:avLst/>
          </a:prstGeom>
          <a:noFill/>
          <a:ln/>
        </p:spPr>
        <p:txBody>
          <a:bodyPr wrap="square" rtlCol="0" anchor="ctr"/>
          <a:lstStyle/>
          <a:p>
            <a:pPr marL="0" indent="0" algn="ctr">
              <a:lnSpc>
                <a:spcPct val="130000"/>
              </a:lnSpc>
              <a:buNone/>
            </a:pPr>
            <a:r>
              <a:rPr lang="en-US" sz="1650" b="1" dirty="0">
                <a:solidFill>
                  <a:srgbClr val="5E17EB"/>
                </a:solidFill>
                <a:latin typeface="Open Sans" pitchFamily="34" charset="0"/>
                <a:ea typeface="Open Sans" pitchFamily="34" charset="-122"/>
                <a:cs typeface="Open Sans" pitchFamily="34" charset="-120"/>
              </a:rPr>
              <a:t>SVM · HIGHEST</a:t>
            </a:r>
            <a:endParaRPr lang="en-US" sz="1650" dirty="0"/>
          </a:p>
        </p:txBody>
      </p:sp>
      <p:sp>
        <p:nvSpPr>
          <p:cNvPr id="14" name="Text 7"/>
          <p:cNvSpPr/>
          <p:nvPr/>
        </p:nvSpPr>
        <p:spPr>
          <a:xfrm>
            <a:off x="4000500" y="5886450"/>
            <a:ext cx="10287000" cy="276225"/>
          </a:xfrm>
          <a:prstGeom prst="rect">
            <a:avLst/>
          </a:prstGeom>
          <a:noFill/>
          <a:ln/>
        </p:spPr>
        <p:txBody>
          <a:bodyPr wrap="square" rtlCol="0" anchor="ctr"/>
          <a:lstStyle/>
          <a:p>
            <a:pPr marL="0" indent="0" algn="l">
              <a:lnSpc>
                <a:spcPct val="130000"/>
              </a:lnSpc>
              <a:buNone/>
            </a:pPr>
            <a:r>
              <a:rPr lang="en-US" sz="1650" b="1" dirty="0">
                <a:solidFill>
                  <a:srgbClr val="5E17EB"/>
                </a:solidFill>
                <a:latin typeface="Open Sans" pitchFamily="34" charset="0"/>
                <a:ea typeface="Open Sans" pitchFamily="34" charset="-122"/>
                <a:cs typeface="Open Sans" pitchFamily="34" charset="-120"/>
              </a:rPr>
              <a:t>KEY TAKEAWAYS</a:t>
            </a:r>
            <a:endParaRPr lang="en-US" sz="1650" dirty="0"/>
          </a:p>
        </p:txBody>
      </p:sp>
      <p:pic>
        <p:nvPicPr>
          <p:cNvPr id="15" name="Image 5" descr="preencoded.png"/>
          <p:cNvPicPr>
            <a:picLocks noChangeAspect="1"/>
          </p:cNvPicPr>
          <p:nvPr/>
        </p:nvPicPr>
        <p:blipFill>
          <a:blip r:embed="rId8"/>
          <a:stretch>
            <a:fillRect/>
          </a:stretch>
        </p:blipFill>
        <p:spPr>
          <a:xfrm>
            <a:off x="4000500" y="6324600"/>
            <a:ext cx="10287000" cy="28575"/>
          </a:xfrm>
          <a:prstGeom prst="rect">
            <a:avLst/>
          </a:prstGeom>
        </p:spPr>
      </p:pic>
      <p:sp>
        <p:nvSpPr>
          <p:cNvPr id="16" name="Text 8"/>
          <p:cNvSpPr/>
          <p:nvPr/>
        </p:nvSpPr>
        <p:spPr>
          <a:xfrm>
            <a:off x="4000500" y="6572250"/>
            <a:ext cx="10287000" cy="2286000"/>
          </a:xfrm>
          <a:prstGeom prst="rect">
            <a:avLst/>
          </a:prstGeom>
          <a:noFill/>
          <a:ln/>
        </p:spPr>
        <p:txBody>
          <a:bodyPr wrap="square" rtlCol="0" anchor="ctr"/>
          <a:lstStyle/>
          <a:p>
            <a:pPr marL="342900" indent="-342900" algn="l">
              <a:lnSpc>
                <a:spcPct val="160000"/>
              </a:lnSpc>
              <a:buSzPct val="100000"/>
              <a:buChar char="•"/>
            </a:pPr>
            <a:r>
              <a:rPr lang="en-US" sz="2250" dirty="0">
                <a:solidFill>
                  <a:srgbClr val="171C1B"/>
                </a:solidFill>
                <a:latin typeface="Open Sans" pitchFamily="34" charset="0"/>
                <a:ea typeface="Open Sans" pitchFamily="34" charset="-122"/>
                <a:cs typeface="Open Sans" pitchFamily="34" charset="-120"/>
              </a:rPr>
              <a:t>Breast cancer prediction system successfully implemented</a:t>
            </a:r>
            <a:endParaRPr lang="en-US" sz="2250" dirty="0"/>
          </a:p>
          <a:p>
            <a:pPr marL="342900" indent="-342900" algn="l">
              <a:lnSpc>
                <a:spcPct val="160000"/>
              </a:lnSpc>
              <a:buSzPct val="100000"/>
              <a:buChar char="•"/>
            </a:pPr>
            <a:r>
              <a:rPr lang="en-US" sz="2250" dirty="0">
                <a:solidFill>
                  <a:srgbClr val="171C1B"/>
                </a:solidFill>
                <a:latin typeface="Open Sans" pitchFamily="34" charset="0"/>
                <a:ea typeface="Open Sans" pitchFamily="34" charset="-122"/>
                <a:cs typeface="Open Sans" pitchFamily="34" charset="-120"/>
              </a:rPr>
              <a:t>Three algorithms compared: Decision Tree, Random Forest, SVM</a:t>
            </a:r>
            <a:endParaRPr lang="en-US" sz="2250" dirty="0"/>
          </a:p>
          <a:p>
            <a:pPr marL="342900" indent="-342900" algn="l">
              <a:lnSpc>
                <a:spcPct val="160000"/>
              </a:lnSpc>
              <a:buSzPct val="100000"/>
              <a:buChar char="•"/>
            </a:pPr>
            <a:r>
              <a:rPr lang="en-US" sz="2250" dirty="0">
                <a:solidFill>
                  <a:srgbClr val="171C1B"/>
                </a:solidFill>
                <a:latin typeface="Open Sans" pitchFamily="34" charset="0"/>
                <a:ea typeface="Open Sans" pitchFamily="34" charset="-122"/>
                <a:cs typeface="Open Sans" pitchFamily="34" charset="-120"/>
              </a:rPr>
              <a:t>SVM achieved the highest accuracy at 97.37%</a:t>
            </a:r>
            <a:endParaRPr lang="en-US" sz="2250" dirty="0"/>
          </a:p>
          <a:p>
            <a:pPr marL="342900" indent="-342900" algn="l">
              <a:lnSpc>
                <a:spcPct val="160000"/>
              </a:lnSpc>
              <a:buSzPct val="100000"/>
              <a:buChar char="•"/>
            </a:pPr>
            <a:r>
              <a:rPr lang="en-US" sz="2250" dirty="0">
                <a:solidFill>
                  <a:srgbClr val="171C1B"/>
                </a:solidFill>
                <a:latin typeface="Open Sans" pitchFamily="34" charset="0"/>
                <a:ea typeface="Open Sans" pitchFamily="34" charset="-122"/>
                <a:cs typeface="Open Sans" pitchFamily="34" charset="-120"/>
              </a:rPr>
              <a:t>Tumors effectively classified as benign or malignant</a:t>
            </a:r>
            <a:endParaRPr lang="en-US" sz="2250" dirty="0"/>
          </a:p>
          <a:p>
            <a:pPr marL="342900" indent="-342900" algn="l">
              <a:lnSpc>
                <a:spcPct val="160000"/>
              </a:lnSpc>
              <a:buSzPct val="100000"/>
              <a:buChar char="•"/>
            </a:pPr>
            <a:r>
              <a:rPr lang="en-US" sz="2250" dirty="0">
                <a:solidFill>
                  <a:srgbClr val="171C1B"/>
                </a:solidFill>
                <a:latin typeface="Open Sans" pitchFamily="34" charset="0"/>
                <a:ea typeface="Open Sans" pitchFamily="34" charset="-122"/>
                <a:cs typeface="Open Sans" pitchFamily="34" charset="-120"/>
              </a:rPr>
              <a:t>Supports early diagnosis and better patient outcomes</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BB3E61-EB3E-9710-4FE2-353B1BD2A51E}"/>
              </a:ext>
            </a:extLst>
          </p:cNvPr>
          <p:cNvSpPr txBox="1"/>
          <p:nvPr/>
        </p:nvSpPr>
        <p:spPr>
          <a:xfrm>
            <a:off x="2502569" y="3258368"/>
            <a:ext cx="13282862" cy="3770263"/>
          </a:xfrm>
          <a:prstGeom prst="rect">
            <a:avLst/>
          </a:prstGeom>
          <a:noFill/>
        </p:spPr>
        <p:txBody>
          <a:bodyPr wrap="square" rtlCol="0">
            <a:spAutoFit/>
          </a:bodyPr>
          <a:lstStyle/>
          <a:p>
            <a:r>
              <a:rPr lang="en-US" sz="23900" b="1" dirty="0"/>
              <a:t>Thank You</a:t>
            </a:r>
          </a:p>
        </p:txBody>
      </p:sp>
    </p:spTree>
    <p:extLst>
      <p:ext uri="{BB962C8B-B14F-4D97-AF65-F5344CB8AC3E}">
        <p14:creationId xmlns:p14="http://schemas.microsoft.com/office/powerpoint/2010/main" val="828785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621</Words>
  <Application>Microsoft Office PowerPoint</Application>
  <PresentationFormat>Custom</PresentationFormat>
  <Paragraphs>89</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9f69d7a1-4b85-47ae-b811-51b4edeeb17e</dc:title>
  <dc:subject>Presentation Export</dc:subject>
  <dc:creator>Design Export</dc:creator>
  <cp:lastModifiedBy>Mamatha A U</cp:lastModifiedBy>
  <cp:revision>2</cp:revision>
  <dcterms:created xsi:type="dcterms:W3CDTF">2026-10-27T02:37:57Z</dcterms:created>
  <dcterms:modified xsi:type="dcterms:W3CDTF">2026-10-27T13:07:02Z</dcterms:modified>
</cp:coreProperties>
</file>